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6531b5e444db9" /><Relationship Type="http://schemas.openxmlformats.org/officeDocument/2006/relationships/extended-properties" Target="/docProps/app.xml" Id="Rdca462a531244980" /><Relationship Type="http://schemas.openxmlformats.org/officeDocument/2006/relationships/officeDocument" Target="/ppt/presentation.xml" Id="Ra405d2f0d230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6b98f7d17f424e"/>
  </p:sldMasterIdLst>
  <p:notesMasterIdLst>
    <p:notesMasterId xmlns:r="http://schemas.openxmlformats.org/officeDocument/2006/relationships" r:id="Rc7000f8e857d455b"/>
  </p:notesMasterIdLst>
  <p:sldIdLst>
    <p:sldId xmlns:r="http://schemas.openxmlformats.org/officeDocument/2006/relationships" id="256" r:id="R2fb2f2593d6141df"/>
    <p:sldId xmlns:r="http://schemas.openxmlformats.org/officeDocument/2006/relationships" id="257" r:id="R117ebd8557284b0c"/>
    <p:sldId xmlns:r="http://schemas.openxmlformats.org/officeDocument/2006/relationships" id="258" r:id="R49dec3a1c677495d"/>
    <p:sldId xmlns:r="http://schemas.openxmlformats.org/officeDocument/2006/relationships" id="259" r:id="R641c472206a24302"/>
    <p:sldId xmlns:r="http://schemas.openxmlformats.org/officeDocument/2006/relationships" id="260" r:id="R545b9994ea7f4f69"/>
    <p:sldId xmlns:r="http://schemas.openxmlformats.org/officeDocument/2006/relationships" id="261" r:id="Rfee2adadc7e44d9c"/>
    <p:sldId xmlns:r="http://schemas.openxmlformats.org/officeDocument/2006/relationships" id="262" r:id="Rfb4b56090b0940b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b98f7d17f424e" /><Relationship Type="http://schemas.openxmlformats.org/officeDocument/2006/relationships/theme" Target="/ppt/theme/theme1.xml" Id="Rd00e81dc85cc4ba3" /><Relationship Type="http://schemas.openxmlformats.org/officeDocument/2006/relationships/notesMaster" Target="/ppt/notesMasters/notesMaster1.xml" Id="Rc7000f8e857d455b" /><Relationship Type="http://schemas.openxmlformats.org/officeDocument/2006/relationships/presProps" Target="/ppt/presProps.xml" Id="R3d5ec0dc590e437c" /><Relationship Type="http://schemas.openxmlformats.org/officeDocument/2006/relationships/viewProps" Target="/ppt/viewProps.xml" Id="R6b136f2922514ade" /><Relationship Type="http://schemas.openxmlformats.org/officeDocument/2006/relationships/tableStyles" Target="/ppt/tableStyles.xml" Id="Rc4c0df6ce1e94c49" /><Relationship Type="http://schemas.openxmlformats.org/officeDocument/2006/relationships/slide" Target="/ppt/slides/slide1.xml" Id="R2fb2f2593d6141df" /><Relationship Type="http://schemas.openxmlformats.org/officeDocument/2006/relationships/slide" Target="/ppt/slides/slide2.xml" Id="R117ebd8557284b0c" /><Relationship Type="http://schemas.openxmlformats.org/officeDocument/2006/relationships/slide" Target="/ppt/slides/slide3.xml" Id="R49dec3a1c677495d" /><Relationship Type="http://schemas.openxmlformats.org/officeDocument/2006/relationships/slide" Target="/ppt/slides/slide4.xml" Id="R641c472206a24302" /><Relationship Type="http://schemas.openxmlformats.org/officeDocument/2006/relationships/slide" Target="/ppt/slides/slide5.xml" Id="R545b9994ea7f4f69" /><Relationship Type="http://schemas.openxmlformats.org/officeDocument/2006/relationships/slide" Target="/ppt/slides/slide6.xml" Id="Rfee2adadc7e44d9c" /><Relationship Type="http://schemas.openxmlformats.org/officeDocument/2006/relationships/slide" Target="/ppt/slides/slide7.xml" Id="Rfb4b56090b09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ddf166616e4b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90c2966e4d4df8" /><Relationship Type="http://schemas.openxmlformats.org/officeDocument/2006/relationships/notesMaster" Target="/ppt/notesMasters/notesMaster1.xml" Id="R313c9577993742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35ae9b6d9940f4" /><Relationship Type="http://schemas.openxmlformats.org/officeDocument/2006/relationships/notesMaster" Target="/ppt/notesMasters/notesMaster1.xml" Id="Rd16761e3a2f246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4ededb177a4084" /><Relationship Type="http://schemas.openxmlformats.org/officeDocument/2006/relationships/notesMaster" Target="/ppt/notesMasters/notesMaster1.xml" Id="Ree8e69d3717945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1f510b2a8c4c64" /><Relationship Type="http://schemas.openxmlformats.org/officeDocument/2006/relationships/notesMaster" Target="/ppt/notesMasters/notesMaster1.xml" Id="R8fc13430b52f4b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f8d399d4c0477c" /><Relationship Type="http://schemas.openxmlformats.org/officeDocument/2006/relationships/notesMaster" Target="/ppt/notesMasters/notesMaster1.xml" Id="Ra28730a95fbc4d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d64f715edc4ea9" /><Relationship Type="http://schemas.openxmlformats.org/officeDocument/2006/relationships/notesMaster" Target="/ppt/notesMasters/notesMaster1.xml" Id="R71c81aa04d444c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02a089edac4b4e" /><Relationship Type="http://schemas.openxmlformats.org/officeDocument/2006/relationships/notesMaster" Target="/ppt/notesMasters/notesMaster1.xml" Id="R4cd6bd9a3c8147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50fbe498d401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74fe28baa64574" /><Relationship Type="http://schemas.openxmlformats.org/officeDocument/2006/relationships/slideLayout" Target="/ppt/slideLayouts/slideLayout2.xml" Id="R96325bcd763d43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25bcd763d43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a7bef36c4445a2" /><Relationship Type="http://schemas.openxmlformats.org/officeDocument/2006/relationships/notesSlide" Target="/ppt/notesSlides/notesSlide1.xml" Id="Rcffe82ba18fd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81de62afeb4b5a" /><Relationship Type="http://schemas.openxmlformats.org/officeDocument/2006/relationships/notesSlide" Target="/ppt/notesSlides/notesSlide2.xml" Id="R8b08a2ae7b2a4d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45f88ef8a049f5" /><Relationship Type="http://schemas.openxmlformats.org/officeDocument/2006/relationships/notesSlide" Target="/ppt/notesSlides/notesSlide3.xml" Id="R59632c62e2df43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2718dc2fad4cac" /><Relationship Type="http://schemas.openxmlformats.org/officeDocument/2006/relationships/notesSlide" Target="/ppt/notesSlides/notesSlide4.xml" Id="R3d50ebbb5ef644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b5f8f6a054dfc" /><Relationship Type="http://schemas.openxmlformats.org/officeDocument/2006/relationships/notesSlide" Target="/ppt/notesSlides/notesSlide5.xml" Id="Rf4f8496a9e0e47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63a867243a4dba" /><Relationship Type="http://schemas.openxmlformats.org/officeDocument/2006/relationships/notesSlide" Target="/ppt/notesSlides/notesSlide6.xml" Id="R677ed8dca3b8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3666c5d8a74a28" /><Relationship Type="http://schemas.openxmlformats.org/officeDocument/2006/relationships/notesSlide" Target="/ppt/notesSlides/notesSlide7.xml" Id="Rce71a2d53cce4f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EEB3EFC-1796-4072-BF06-E0CACF0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14400"/>
            <a:ext cx="68389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15E59"/>
                </a:solidFill>
              </a:defRPr>
            </a:pPr>
            <a:r>
              <a:rPr sz="7200" b="1">
                <a:solidFill>
                  <a:srgbClr val="115E59"/>
                </a:solidFill>
              </a:rPr>
              <a:t>Secure Comments</a:t>
            </a:r>
          </a:p>
        </p:txBody>
      </p:sp>
      <p:sp>
        <p:nvSpPr>
          <p:cNvPr id="2" name="cover-rule">
            <a:extLst xmlns:a="http://schemas.openxmlformats.org/drawingml/2006/main">
              <a:ext uri="{FF2B5EF4-FFF2-40B4-BE49-F238E27FC236}">
                <a16:creationId xmlns:a16="http://schemas.microsoft.com/office/drawing/2014/main" id="{7B8D04F4-0904-4558-BBA4-69D4D2C8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9038EBC-0149-4686-BF9C-F36EBCB5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1219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6202A"/>
                </a:solidFill>
              </a:defRPr>
            </a:pPr>
            <a:r>
              <a:rPr sz="2550">
                <a:solidFill>
                  <a:srgbClr val="16202A"/>
                </a:solidFill>
              </a:rPr>
              <a:t>Pengamanan aplikasi web dengan HTTPS, hash password, prepared statement, validasi input, CSRF, dan mitigasi XSS.</a:t>
            </a:r>
          </a:p>
        </p:txBody>
      </p:sp>
      <p:sp>
        <p:nvSpPr>
          <p:cNvPr id="4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5D3FC48B-4DCA-4E94-8515-2A1675EB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1607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6B78"/>
                </a:solidFill>
              </a:defRPr>
            </a:pPr>
            <a:r>
              <a:rPr sz="1800">
                <a:solidFill>
                  <a:srgbClr val="5E6B78"/>
                </a:solidFill>
              </a:rPr>
              <a:t>Projek CLO 2 Keamanan Sistem</a:t>
            </a:r>
          </a:p>
        </p:txBody>
      </p:sp>
    </p:spTree>
    <p:extLst>
      <p:ext uri="{BB962C8B-B14F-4D97-AF65-F5344CB8AC3E}">
        <p14:creationId xmlns:p14="http://schemas.microsoft.com/office/powerpoint/2010/main" val="10153997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54708E-1006-43F1-9BF8-53104E2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202A"/>
                </a:solidFill>
              </a:defRPr>
            </a:pPr>
            <a:r>
              <a:rPr sz="4350" b="1">
                <a:solidFill>
                  <a:srgbClr val="16202A"/>
                </a:solidFill>
              </a:rPr>
              <a:t>Pendahuluan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39E17C-B0D1-419D-B153-DFF9B5C0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8477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B78"/>
                </a:solidFill>
              </a:defRPr>
            </a:pPr>
            <a:r>
              <a:rPr sz="1650">
                <a:solidFill>
                  <a:srgbClr val="5E6B78"/>
                </a:solidFill>
              </a:rPr>
              <a:t>Aplikasi demo komentar publik untuk menunjukkan kontrol keamanan web yang bisa diuji langsung.</a:t>
            </a:r>
          </a:p>
        </p:txBody>
      </p:sp>
      <p:sp>
        <p:nvSpPr>
          <p:cNvPr id="3" name="bullet-1">
            <a:extLst xmlns:a="http://schemas.openxmlformats.org/drawingml/2006/main">
              <a:ext uri="{FF2B5EF4-FFF2-40B4-BE49-F238E27FC236}">
                <a16:creationId xmlns:a16="http://schemas.microsoft.com/office/drawing/2014/main" id="{9EA7ABFF-357D-4D88-84CD-5CB9088D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18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1. Publik dapat membaca komentar tanpa login.</a:t>
            </a:r>
          </a:p>
        </p:txBody>
      </p:sp>
      <p:sp>
        <p:nvSpPr>
          <p:cNvPr id="4" name="bullet-2">
            <a:extLst xmlns:a="http://schemas.openxmlformats.org/drawingml/2006/main">
              <a:ext uri="{FF2B5EF4-FFF2-40B4-BE49-F238E27FC236}">
                <a16:creationId xmlns:a16="http://schemas.microsoft.com/office/drawing/2014/main" id="{1BD5D75F-7346-4AD9-B458-9F2A22D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514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2. User terdaftar dapat menulis komentar.</a:t>
            </a:r>
          </a:p>
        </p:txBody>
      </p:sp>
      <p:sp>
        <p:nvSpPr>
          <p:cNvPr id="5" name="bullet-3">
            <a:extLst xmlns:a="http://schemas.openxmlformats.org/drawingml/2006/main">
              <a:ext uri="{FF2B5EF4-FFF2-40B4-BE49-F238E27FC236}">
                <a16:creationId xmlns:a16="http://schemas.microsoft.com/office/drawing/2014/main" id="{DA1AF59B-8367-4CBC-9D4C-B548D965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6172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3. Admin dapat melihat monitoring users dan comments.</a:t>
            </a:r>
          </a:p>
        </p:txBody>
      </p:sp>
      <p:sp>
        <p:nvSpPr>
          <p:cNvPr id="6" name="bullet-4">
            <a:extLst xmlns:a="http://schemas.openxmlformats.org/drawingml/2006/main">
              <a:ext uri="{FF2B5EF4-FFF2-40B4-BE49-F238E27FC236}">
                <a16:creationId xmlns:a16="http://schemas.microsoft.com/office/drawing/2014/main" id="{652FBD70-ABAA-4D85-8F71-58B7530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4. Demo berjalan lokal dengan Docker Compose.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58B846C-356B-41B8-968D-AC309F6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B78"/>
                </a:solidFill>
              </a:defRPr>
            </a:pPr>
            <a:r>
              <a:rPr sz="1350">
                <a:solidFill>
                  <a:srgbClr val="5E6B78"/>
                </a:solidFill>
              </a:rPr>
              <a:t>CLO 2 Secure Comments | PHP, Apache, MySQL, Docker</a:t>
            </a:r>
          </a:p>
        </p:txBody>
      </p:sp>
    </p:spTree>
    <p:extLst>
      <p:ext uri="{BB962C8B-B14F-4D97-AF65-F5344CB8AC3E}">
        <p14:creationId xmlns:p14="http://schemas.microsoft.com/office/powerpoint/2010/main" val="1529759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D8DF7B-336B-4788-BB69-6E9053EC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202A"/>
                </a:solidFill>
              </a:defRPr>
            </a:pPr>
            <a:r>
              <a:rPr sz="4350" b="1">
                <a:solidFill>
                  <a:srgbClr val="16202A"/>
                </a:solidFill>
              </a:rPr>
              <a:t>Teori keamanan yang dipakai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580C9E-60EE-424B-940E-422C01BA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5410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B78"/>
                </a:solidFill>
              </a:defRPr>
            </a:pPr>
            <a:r>
              <a:rPr sz="1650">
                <a:solidFill>
                  <a:srgbClr val="5E6B78"/>
                </a:solidFill>
              </a:rPr>
              <a:t>Kontrol dipilih sesuai risiko umum pada aplikasi web sederhana.</a:t>
            </a:r>
          </a:p>
        </p:txBody>
      </p:sp>
      <p:sp>
        <p:nvSpPr>
          <p:cNvPr id="3" name="method-HTTPS/TLS">
            <a:extLst xmlns:a="http://schemas.openxmlformats.org/drawingml/2006/main">
              <a:ext uri="{FF2B5EF4-FFF2-40B4-BE49-F238E27FC236}">
                <a16:creationId xmlns:a16="http://schemas.microsoft.com/office/drawing/2014/main" id="{2247A85A-2B52-4316-BD8B-942B0D97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9810"/>
            <a:ext cx="8229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DBFB1-0221-4AAA-8B9B-D465EDF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HTTPS/TLS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A8E4B-D8FE-49CB-B4D9-FDEF0EF7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Mengenkripsi trafik browser ke Apache dengan self-signed certificate RSA 2048-bit.</a:t>
            </a:r>
          </a:p>
        </p:txBody>
      </p:sp>
      <p:sp>
        <p:nvSpPr>
          <p:cNvPr id="6" name="method-Hash + salt">
            <a:extLst xmlns:a="http://schemas.openxmlformats.org/drawingml/2006/main">
              <a:ext uri="{FF2B5EF4-FFF2-40B4-BE49-F238E27FC236}">
                <a16:creationId xmlns:a16="http://schemas.microsoft.com/office/drawing/2014/main" id="{3346C61D-CA9C-425A-BCAA-270357D5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9810"/>
            <a:ext cx="8229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D28FF-C576-48F7-988B-4EE7CDC8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9555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Hash + salt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8783D-299D-4BE6-B955-2E0568CF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1465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Password disimpan memakai password_hash() dan diverifikasi dengan password_verify().</a:t>
            </a:r>
          </a:p>
        </p:txBody>
      </p:sp>
      <p:sp>
        <p:nvSpPr>
          <p:cNvPr id="9" name="method-SQL injection">
            <a:extLst xmlns:a="http://schemas.openxmlformats.org/drawingml/2006/main">
              <a:ext uri="{FF2B5EF4-FFF2-40B4-BE49-F238E27FC236}">
                <a16:creationId xmlns:a16="http://schemas.microsoft.com/office/drawing/2014/main" id="{89BF21EA-A73C-4505-862F-5E00A0C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6760"/>
            <a:ext cx="8229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DB2AE-C598-466B-8116-E40B4AB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SQL injection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44952-9C98-4483-8076-08633A55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Query login, signup, komentar, dan admin memakai PDO prepared statement.</a:t>
            </a:r>
          </a:p>
        </p:txBody>
      </p:sp>
      <p:sp>
        <p:nvSpPr>
          <p:cNvPr id="12" name="method-XSS">
            <a:extLst xmlns:a="http://schemas.openxmlformats.org/drawingml/2006/main">
              <a:ext uri="{FF2B5EF4-FFF2-40B4-BE49-F238E27FC236}">
                <a16:creationId xmlns:a16="http://schemas.microsoft.com/office/drawing/2014/main" id="{D79FB4C7-1FA2-4DD0-A17F-57564681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56760"/>
            <a:ext cx="8229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DD753-11E8-4A03-9502-01C49D67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6250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XSS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BE21D-7D6F-4817-82B3-AA01E69A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8160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Output database dirender dengan htmlspecialchars() sebelum masuk ke HTML.</a:t>
            </a:r>
          </a:p>
        </p:txBody>
      </p:sp>
      <p:sp>
        <p:nvSpPr>
          <p:cNvPr id="15" name="method-CSRF">
            <a:extLst xmlns:a="http://schemas.openxmlformats.org/drawingml/2006/main">
              <a:ext uri="{FF2B5EF4-FFF2-40B4-BE49-F238E27FC236}">
                <a16:creationId xmlns:a16="http://schemas.microsoft.com/office/drawing/2014/main" id="{E816F536-0780-42DE-BEDB-498F136F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23710"/>
            <a:ext cx="8229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6C577-65BD-4A73-B540-5BA08122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2945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CSRF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523A4-CB09-4E43-B66E-65A48CFA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44855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Setiap form POST wajib membawa token acak yang divalidasi server.</a:t>
            </a:r>
          </a:p>
        </p:txBody>
      </p:sp>
      <p:sp>
        <p:nvSpPr>
          <p:cNvPr id="18" name="method-Brute force">
            <a:extLst xmlns:a="http://schemas.openxmlformats.org/drawingml/2006/main">
              <a:ext uri="{FF2B5EF4-FFF2-40B4-BE49-F238E27FC236}">
                <a16:creationId xmlns:a16="http://schemas.microsoft.com/office/drawing/2014/main" id="{862FF166-960F-41F3-9FB3-38AAE4BE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3710"/>
            <a:ext cx="8229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6471F-61FF-4CCC-8DF9-C85B788C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02945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Brute force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4B50A-B0DF-4DFA-ADCD-A915A3D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44855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Login gagal diberi delay sekitar 2 detik sebagai mitigasi dasar.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18314009-B739-406D-8846-E832AF6E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916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B78"/>
                </a:solidFill>
              </a:defRPr>
            </a:pPr>
            <a:r>
              <a:rPr sz="1350">
                <a:solidFill>
                  <a:srgbClr val="5E6B78"/>
                </a:solidFill>
              </a:rPr>
              <a:t>CLO 2 Secure Comments | PHP, Apache, MySQL, Docker</a:t>
            </a:r>
          </a:p>
        </p:txBody>
      </p:sp>
    </p:spTree>
    <p:extLst>
      <p:ext uri="{BB962C8B-B14F-4D97-AF65-F5344CB8AC3E}">
        <p14:creationId xmlns:p14="http://schemas.microsoft.com/office/powerpoint/2010/main" val="4670712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09438F-BBDD-4198-A82E-D75E1FF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202A"/>
                </a:solidFill>
              </a:defRPr>
            </a:pPr>
            <a:r>
              <a:rPr sz="4350" b="1">
                <a:solidFill>
                  <a:srgbClr val="16202A"/>
                </a:solidFill>
              </a:rPr>
              <a:t>Blok diagram aplikasi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E54C4B-C1A1-46D6-81A2-D2D8919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7867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B78"/>
                </a:solidFill>
              </a:defRPr>
            </a:pPr>
            <a:r>
              <a:rPr sz="1650">
                <a:solidFill>
                  <a:srgbClr val="5E6B78"/>
                </a:solidFill>
              </a:rPr>
              <a:t>Alur utama: browser masuk lewat HTTPS, PHP memproses request, MySQL menyimpan data.</a:t>
            </a:r>
          </a:p>
        </p:txBody>
      </p:sp>
      <p:sp>
        <p:nvSpPr>
          <p:cNvPr id="3" name="method-Browser">
            <a:extLst xmlns:a="http://schemas.openxmlformats.org/drawingml/2006/main">
              <a:ext uri="{FF2B5EF4-FFF2-40B4-BE49-F238E27FC236}">
                <a16:creationId xmlns:a16="http://schemas.microsoft.com/office/drawing/2014/main" id="{2623860B-42F9-4786-B2EA-C59FBE9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9810"/>
            <a:ext cx="4876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C41F5-04F2-4B75-9A02-2A8F5B59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4343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A"/>
                </a:solidFill>
              </a:defRPr>
            </a:pPr>
            <a:r>
              <a:rPr sz="2100" b="1">
                <a:solidFill>
                  <a:srgbClr val="16202A"/>
                </a:solidFill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2CD4-763A-4A41-87DE-8BF556A1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434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Membuka localhost:8443 dan menerima cookie session aman.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663D-403A-4E44-BF3E-8459533C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57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7" name="method-Apache + PHP">
            <a:extLst xmlns:a="http://schemas.openxmlformats.org/drawingml/2006/main">
              <a:ext uri="{FF2B5EF4-FFF2-40B4-BE49-F238E27FC236}">
                <a16:creationId xmlns:a16="http://schemas.microsoft.com/office/drawing/2014/main" id="{F52DD94A-3C00-4A0A-B0DB-FF785AE1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9810"/>
            <a:ext cx="4876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A681E-66BF-42C1-8CE7-1BF0BE81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4343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5E59"/>
                </a:solidFill>
              </a:defRPr>
            </a:pPr>
            <a:r>
              <a:rPr sz="2100" b="1">
                <a:solidFill>
                  <a:srgbClr val="115E59"/>
                </a:solidFill>
              </a:rPr>
              <a:t>Apache + PHP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FF1AB-50A6-42B2-862E-CDA66B8E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434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Redirect HTTP ke HTTPS, validasi input, CSRF, dan session hardening.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12065-4963-4E94-9442-40A02500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286000"/>
            <a:ext cx="57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11" name="method-MySQL">
            <a:extLst xmlns:a="http://schemas.openxmlformats.org/drawingml/2006/main">
              <a:ext uri="{FF2B5EF4-FFF2-40B4-BE49-F238E27FC236}">
                <a16:creationId xmlns:a16="http://schemas.microsoft.com/office/drawing/2014/main" id="{9F440ABF-4158-4626-B213-6E38F5D7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289810"/>
            <a:ext cx="4876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7C90D-6FF6-42C4-8491-023468F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95550"/>
            <a:ext cx="4343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A"/>
                </a:solidFill>
              </a:defRPr>
            </a:pPr>
            <a:r>
              <a:rPr sz="2100" b="1">
                <a:solidFill>
                  <a:srgbClr val="16202A"/>
                </a:solidFill>
              </a:rPr>
              <a:t>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E7AAA-1E8B-42C3-8EB4-DF517046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914650"/>
            <a:ext cx="434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02A"/>
                </a:solidFill>
              </a:defRPr>
            </a:pPr>
            <a:r>
              <a:rPr sz="1575">
                <a:solidFill>
                  <a:srgbClr val="16202A"/>
                </a:solidFill>
              </a:rPr>
              <a:t>Menyimpan tabel users dan comments di network Docker kelas C.</a:t>
            </a:r>
          </a:p>
        </p:txBody>
      </p:sp>
      <p:sp>
        <p:nvSpPr>
          <p:cNvPr id="14" name="network-note">
            <a:extLst xmlns:a="http://schemas.openxmlformats.org/drawingml/2006/main">
              <a:ext uri="{FF2B5EF4-FFF2-40B4-BE49-F238E27FC236}">
                <a16:creationId xmlns:a16="http://schemas.microsoft.com/office/drawing/2014/main" id="{D888B72D-170B-4420-9523-44453BE8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6B78"/>
                </a:solidFill>
              </a:defRPr>
            </a:pPr>
            <a:r>
              <a:rPr sz="1800">
                <a:solidFill>
                  <a:srgbClr val="5E6B78"/>
                </a:solidFill>
              </a:rPr>
              <a:t>Docker network: 192.168.240.0/24 | web: 192.168.240.10 | db: 192.168.240.11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DDC4A12D-1073-4E4D-8ABD-CE436CCA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B78"/>
                </a:solidFill>
              </a:defRPr>
            </a:pPr>
            <a:r>
              <a:rPr sz="1350">
                <a:solidFill>
                  <a:srgbClr val="5E6B78"/>
                </a:solidFill>
              </a:rPr>
              <a:t>CLO 2 Secure Comments | PHP, Apache, MySQL, Docker</a:t>
            </a:r>
          </a:p>
        </p:txBody>
      </p:sp>
    </p:spTree>
    <p:extLst>
      <p:ext uri="{BB962C8B-B14F-4D97-AF65-F5344CB8AC3E}">
        <p14:creationId xmlns:p14="http://schemas.microsoft.com/office/powerpoint/2010/main" val="16898704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667C5-C3D4-450D-AEF0-4F1E1FCA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202A"/>
                </a:solidFill>
              </a:defRPr>
            </a:pPr>
            <a:r>
              <a:rPr sz="4350" b="1">
                <a:solidFill>
                  <a:srgbClr val="16202A"/>
                </a:solidFill>
              </a:rPr>
              <a:t>Metode mitigasi kerentanan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AB9740-215B-4EAA-889D-F7B9156F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5676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B78"/>
                </a:solidFill>
              </a:defRPr>
            </a:pPr>
            <a:r>
              <a:rPr sz="1650">
                <a:solidFill>
                  <a:srgbClr val="5E6B78"/>
                </a:solidFill>
              </a:rPr>
              <a:t>Setiap risiko punya kontrol teknis yang bisa ditunjukkan saat demo.</a:t>
            </a:r>
          </a:p>
        </p:txBody>
      </p:sp>
      <p:sp>
        <p:nvSpPr>
          <p:cNvPr id="3" name="bullet-1">
            <a:extLst xmlns:a="http://schemas.openxmlformats.org/drawingml/2006/main">
              <a:ext uri="{FF2B5EF4-FFF2-40B4-BE49-F238E27FC236}">
                <a16:creationId xmlns:a16="http://schemas.microsoft.com/office/drawing/2014/main" id="{EAF3F902-378C-4130-8FDD-579F924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1. SQL injection: prepared statement memisahkan query dan data.</a:t>
            </a:r>
          </a:p>
        </p:txBody>
      </p:sp>
      <p:sp>
        <p:nvSpPr>
          <p:cNvPr id="4" name="bullet-2">
            <a:extLst xmlns:a="http://schemas.openxmlformats.org/drawingml/2006/main">
              <a:ext uri="{FF2B5EF4-FFF2-40B4-BE49-F238E27FC236}">
                <a16:creationId xmlns:a16="http://schemas.microsoft.com/office/drawing/2014/main" id="{7CB79D0D-247F-4F67-B2A6-8191F982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781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2. XSS: komentar di-escape sehingga script tampil sebagai teks.</a:t>
            </a:r>
          </a:p>
        </p:txBody>
      </p:sp>
      <p:sp>
        <p:nvSpPr>
          <p:cNvPr id="5" name="bullet-3">
            <a:extLst xmlns:a="http://schemas.openxmlformats.org/drawingml/2006/main">
              <a:ext uri="{FF2B5EF4-FFF2-40B4-BE49-F238E27FC236}">
                <a16:creationId xmlns:a16="http://schemas.microsoft.com/office/drawing/2014/main" id="{C5844738-C5D4-4476-ABB6-29EE343E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6896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3. Buffer overflow/input abuse: panjang input dibatasi di server.</a:t>
            </a:r>
          </a:p>
        </p:txBody>
      </p:sp>
      <p:sp>
        <p:nvSpPr>
          <p:cNvPr id="6" name="bullet-4">
            <a:extLst xmlns:a="http://schemas.openxmlformats.org/drawingml/2006/main">
              <a:ext uri="{FF2B5EF4-FFF2-40B4-BE49-F238E27FC236}">
                <a16:creationId xmlns:a16="http://schemas.microsoft.com/office/drawing/2014/main" id="{B3C6F452-DFA3-4BF1-80ED-F63C1D8C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6800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4. Akses admin: role dicek sebelum menampilkan admin panel.</a:t>
            </a:r>
          </a:p>
        </p:txBody>
      </p:sp>
      <p:sp>
        <p:nvSpPr>
          <p:cNvPr id="7" name="bullet-5">
            <a:extLst xmlns:a="http://schemas.openxmlformats.org/drawingml/2006/main">
              <a:ext uri="{FF2B5EF4-FFF2-40B4-BE49-F238E27FC236}">
                <a16:creationId xmlns:a16="http://schemas.microsoft.com/office/drawing/2014/main" id="{17E8CEFF-FBAF-46D7-BB9A-F74B2D2B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7658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5. Session: cookie HttpOnly, Secure, SameSite Strict, dan regenerate ID.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509B456-0E6E-4D5E-88CE-B9FBDC3B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B78"/>
                </a:solidFill>
              </a:defRPr>
            </a:pPr>
            <a:r>
              <a:rPr sz="1350">
                <a:solidFill>
                  <a:srgbClr val="5E6B78"/>
                </a:solidFill>
              </a:rPr>
              <a:t>CLO 2 Secure Comments | PHP, Apache, MySQL, Docker</a:t>
            </a:r>
          </a:p>
        </p:txBody>
      </p:sp>
    </p:spTree>
    <p:extLst>
      <p:ext uri="{BB962C8B-B14F-4D97-AF65-F5344CB8AC3E}">
        <p14:creationId xmlns:p14="http://schemas.microsoft.com/office/powerpoint/2010/main" val="19517322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60FF48-26E7-4FAC-9AF7-975D36F7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202A"/>
                </a:solidFill>
              </a:defRPr>
            </a:pPr>
            <a:r>
              <a:rPr sz="4350" b="1">
                <a:solidFill>
                  <a:srgbClr val="16202A"/>
                </a:solidFill>
              </a:rPr>
              <a:t>Demo uji serangan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ECD14A4-F35D-42C9-97F8-66B4831A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B78"/>
                </a:solidFill>
              </a:defRPr>
            </a:pPr>
            <a:r>
              <a:rPr sz="1650">
                <a:solidFill>
                  <a:srgbClr val="5E6B78"/>
                </a:solidFill>
              </a:rPr>
              <a:t>Urutan demo disiapkan agar sesuai rubrik penilaian.</a:t>
            </a:r>
          </a:p>
        </p:txBody>
      </p:sp>
      <p:sp>
        <p:nvSpPr>
          <p:cNvPr id="3" name="bullet-1">
            <a:extLst xmlns:a="http://schemas.openxmlformats.org/drawingml/2006/main">
              <a:ext uri="{FF2B5EF4-FFF2-40B4-BE49-F238E27FC236}">
                <a16:creationId xmlns:a16="http://schemas.microsoft.com/office/drawing/2014/main" id="{065A0CCC-BB25-402F-8420-0F16CC5F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523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1. Buka HTTPS dan inspeksi sertifikat self-signed.</a:t>
            </a:r>
          </a:p>
        </p:txBody>
      </p:sp>
      <p:sp>
        <p:nvSpPr>
          <p:cNvPr id="4" name="bullet-2">
            <a:extLst xmlns:a="http://schemas.openxmlformats.org/drawingml/2006/main">
              <a:ext uri="{FF2B5EF4-FFF2-40B4-BE49-F238E27FC236}">
                <a16:creationId xmlns:a16="http://schemas.microsoft.com/office/drawing/2014/main" id="{42E5F656-3D5F-45C4-83DF-7D24F0C5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62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2. Akses /comment.php tanpa login, lalu login sebagai admin.</a:t>
            </a:r>
          </a:p>
        </p:txBody>
      </p:sp>
      <p:sp>
        <p:nvSpPr>
          <p:cNvPr id="5" name="bullet-3">
            <a:extLst xmlns:a="http://schemas.openxmlformats.org/drawingml/2006/main">
              <a:ext uri="{FF2B5EF4-FFF2-40B4-BE49-F238E27FC236}">
                <a16:creationId xmlns:a16="http://schemas.microsoft.com/office/drawing/2014/main" id="{C06D56B6-1BDE-44B7-8FAE-6164E4B0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6534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3. Coba payload SQL injection: ' OR '1'='1 pada mode secure.</a:t>
            </a:r>
          </a:p>
        </p:txBody>
      </p:sp>
      <p:sp>
        <p:nvSpPr>
          <p:cNvPr id="6" name="bullet-4">
            <a:extLst xmlns:a="http://schemas.openxmlformats.org/drawingml/2006/main">
              <a:ext uri="{FF2B5EF4-FFF2-40B4-BE49-F238E27FC236}">
                <a16:creationId xmlns:a16="http://schemas.microsoft.com/office/drawing/2014/main" id="{22FFD8F9-E727-4FFF-84CF-0A28947A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8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4. Kirim komentar &lt;script&gt;alert(1)&lt;/script&gt; dan pastikan tidak dieksekusi.</a:t>
            </a:r>
          </a:p>
        </p:txBody>
      </p:sp>
      <p:sp>
        <p:nvSpPr>
          <p:cNvPr id="7" name="bullet-5">
            <a:extLst xmlns:a="http://schemas.openxmlformats.org/drawingml/2006/main">
              <a:ext uri="{FF2B5EF4-FFF2-40B4-BE49-F238E27FC236}">
                <a16:creationId xmlns:a16="http://schemas.microsoft.com/office/drawing/2014/main" id="{81F3FD8D-790B-4651-8523-4BF5DA21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754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5. Kirim komentar lebih dari 500 karakter dan POST tanpa CSRF token.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956FDFA-3569-4750-99BA-788F747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B78"/>
                </a:solidFill>
              </a:defRPr>
            </a:pPr>
            <a:r>
              <a:rPr sz="1350">
                <a:solidFill>
                  <a:srgbClr val="5E6B78"/>
                </a:solidFill>
              </a:rPr>
              <a:t>CLO 2 Secure Comments | PHP, Apache, MySQL, Docker</a:t>
            </a:r>
          </a:p>
        </p:txBody>
      </p:sp>
    </p:spTree>
    <p:extLst>
      <p:ext uri="{BB962C8B-B14F-4D97-AF65-F5344CB8AC3E}">
        <p14:creationId xmlns:p14="http://schemas.microsoft.com/office/powerpoint/2010/main" val="7202038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41CFCB-422F-4F66-BBE3-8846EF57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202A"/>
                </a:solidFill>
              </a:defRPr>
            </a:pPr>
            <a:r>
              <a:rPr sz="4350" b="1">
                <a:solidFill>
                  <a:srgbClr val="16202A"/>
                </a:solidFill>
              </a:rPr>
              <a:t>Kesimpulan dan saran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1DD436-1B13-48AE-A420-361114F5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7296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B78"/>
                </a:solidFill>
              </a:defRPr>
            </a:pPr>
            <a:r>
              <a:rPr sz="1650">
                <a:solidFill>
                  <a:srgbClr val="5E6B78"/>
                </a:solidFill>
              </a:rPr>
              <a:t>Aplikasi memenuhi kontrol minimum proyek dan masih bisa dikembangkan lebih jauh.</a:t>
            </a:r>
          </a:p>
        </p:txBody>
      </p:sp>
      <p:sp>
        <p:nvSpPr>
          <p:cNvPr id="3" name="bullet-1">
            <a:extLst xmlns:a="http://schemas.openxmlformats.org/drawingml/2006/main">
              <a:ext uri="{FF2B5EF4-FFF2-40B4-BE49-F238E27FC236}">
                <a16:creationId xmlns:a16="http://schemas.microsoft.com/office/drawing/2014/main" id="{3655059E-54BE-49DA-9DA6-2BC24F80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039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1. Kontrol utama sudah aktif: HTTPS, hash+salt, SQLi, XSS, CSRF, input limit, brute force delay.</a:t>
            </a:r>
          </a:p>
        </p:txBody>
      </p:sp>
      <p:sp>
        <p:nvSpPr>
          <p:cNvPr id="4" name="bullet-2">
            <a:extLst xmlns:a="http://schemas.openxmlformats.org/drawingml/2006/main">
              <a:ext uri="{FF2B5EF4-FFF2-40B4-BE49-F238E27FC236}">
                <a16:creationId xmlns:a16="http://schemas.microsoft.com/office/drawing/2014/main" id="{C5D523E6-AC50-4F13-872A-971BF7B3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9944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2. Dokumentasi mencatat cara menjalankan, arsitektur, metode keamanan, dan skenario uji.</a:t>
            </a:r>
          </a:p>
        </p:txBody>
      </p:sp>
      <p:sp>
        <p:nvSpPr>
          <p:cNvPr id="5" name="bullet-3">
            <a:extLst xmlns:a="http://schemas.openxmlformats.org/drawingml/2006/main">
              <a:ext uri="{FF2B5EF4-FFF2-40B4-BE49-F238E27FC236}">
                <a16:creationId xmlns:a16="http://schemas.microsoft.com/office/drawing/2014/main" id="{4A2F39EA-DC81-4A9A-807A-989F4F8B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181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6202A"/>
                </a:solidFill>
              </a:defRPr>
            </a:pPr>
            <a:r>
              <a:rPr sz="2100">
                <a:solidFill>
                  <a:srgbClr val="16202A"/>
                </a:solidFill>
              </a:rPr>
              <a:t>3. Pengembangan berikutnya: rate limiter berbasis IP, audit log, reset password aman, dan sertifikat CA resmi.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1791C08-5EB7-4B1A-B546-93826B3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B78"/>
                </a:solidFill>
              </a:defRPr>
            </a:pPr>
            <a:r>
              <a:rPr sz="1350">
                <a:solidFill>
                  <a:srgbClr val="5E6B78"/>
                </a:solidFill>
              </a:rPr>
              <a:t>CLO 2 Secure Comments | PHP, Apache, MySQL, Docker</a:t>
            </a:r>
          </a:p>
        </p:txBody>
      </p:sp>
    </p:spTree>
    <p:extLst>
      <p:ext uri="{BB962C8B-B14F-4D97-AF65-F5344CB8AC3E}">
        <p14:creationId xmlns:p14="http://schemas.microsoft.com/office/powerpoint/2010/main" val="2051848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2026-05-11T12:26:03.6010000Z</dcterms:created>
  <dcterms:modified xsi:type="dcterms:W3CDTF">2026-05-11T12:26:03.6010000Z</dcterms:modified>
</coreProperties>
</file>