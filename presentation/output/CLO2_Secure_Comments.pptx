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9f32186d424024" /><Relationship Type="http://schemas.openxmlformats.org/officeDocument/2006/relationships/extended-properties" Target="/docProps/app.xml" Id="R0230694a760e4a78" /><Relationship Type="http://schemas.openxmlformats.org/officeDocument/2006/relationships/officeDocument" Target="/ppt/presentation.xml" Id="Ra62cf4807be043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fb613c50804369"/>
  </p:sldMasterIdLst>
  <p:notesMasterIdLst>
    <p:notesMasterId xmlns:r="http://schemas.openxmlformats.org/officeDocument/2006/relationships" r:id="R9b68a252680d4bab"/>
  </p:notesMasterIdLst>
  <p:sldIdLst>
    <p:sldId xmlns:r="http://schemas.openxmlformats.org/officeDocument/2006/relationships" id="256" r:id="R629b93724ef44791"/>
    <p:sldId xmlns:r="http://schemas.openxmlformats.org/officeDocument/2006/relationships" id="257" r:id="Refbd05200ad14f3c"/>
    <p:sldId xmlns:r="http://schemas.openxmlformats.org/officeDocument/2006/relationships" id="258" r:id="Rd78f13f7f2644e1c"/>
    <p:sldId xmlns:r="http://schemas.openxmlformats.org/officeDocument/2006/relationships" id="259" r:id="Raae9687557e54591"/>
    <p:sldId xmlns:r="http://schemas.openxmlformats.org/officeDocument/2006/relationships" id="260" r:id="R2d07e068b8024826"/>
    <p:sldId xmlns:r="http://schemas.openxmlformats.org/officeDocument/2006/relationships" id="261" r:id="R126c389a38c14e40"/>
    <p:sldId xmlns:r="http://schemas.openxmlformats.org/officeDocument/2006/relationships" id="262" r:id="R318b010b38b3407e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fb613c50804369" /><Relationship Type="http://schemas.openxmlformats.org/officeDocument/2006/relationships/theme" Target="/ppt/theme/theme1.xml" Id="R2dbb4381be664481" /><Relationship Type="http://schemas.openxmlformats.org/officeDocument/2006/relationships/notesMaster" Target="/ppt/notesMasters/notesMaster1.xml" Id="R9b68a252680d4bab" /><Relationship Type="http://schemas.openxmlformats.org/officeDocument/2006/relationships/presProps" Target="/ppt/presProps.xml" Id="R9380f5511562487d" /><Relationship Type="http://schemas.openxmlformats.org/officeDocument/2006/relationships/viewProps" Target="/ppt/viewProps.xml" Id="Rced510a866c047be" /><Relationship Type="http://schemas.openxmlformats.org/officeDocument/2006/relationships/tableStyles" Target="/ppt/tableStyles.xml" Id="Re25440b5f91d4cdf" /><Relationship Type="http://schemas.openxmlformats.org/officeDocument/2006/relationships/slide" Target="/ppt/slides/slide1.xml" Id="R629b93724ef44791" /><Relationship Type="http://schemas.openxmlformats.org/officeDocument/2006/relationships/slide" Target="/ppt/slides/slide2.xml" Id="Refbd05200ad14f3c" /><Relationship Type="http://schemas.openxmlformats.org/officeDocument/2006/relationships/slide" Target="/ppt/slides/slide3.xml" Id="Rd78f13f7f2644e1c" /><Relationship Type="http://schemas.openxmlformats.org/officeDocument/2006/relationships/slide" Target="/ppt/slides/slide4.xml" Id="Raae9687557e54591" /><Relationship Type="http://schemas.openxmlformats.org/officeDocument/2006/relationships/slide" Target="/ppt/slides/slide5.xml" Id="R2d07e068b8024826" /><Relationship Type="http://schemas.openxmlformats.org/officeDocument/2006/relationships/slide" Target="/ppt/slides/slide6.xml" Id="R126c389a38c14e40" /><Relationship Type="http://schemas.openxmlformats.org/officeDocument/2006/relationships/slide" Target="/ppt/slides/slide7.xml" Id="R318b010b38b3407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14ec6dbab2304f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d349fe2a3954b41" /><Relationship Type="http://schemas.openxmlformats.org/officeDocument/2006/relationships/notesMaster" Target="/ppt/notesMasters/notesMaster1.xml" Id="Raf78d074913f450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7cdf5098a0844b5" /><Relationship Type="http://schemas.openxmlformats.org/officeDocument/2006/relationships/notesMaster" Target="/ppt/notesMasters/notesMaster1.xml" Id="Reafee62030e14e6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4133fc2d98b4269" /><Relationship Type="http://schemas.openxmlformats.org/officeDocument/2006/relationships/notesMaster" Target="/ppt/notesMasters/notesMaster1.xml" Id="R9ee1cf532c64496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f032e40ecf4c6a" /><Relationship Type="http://schemas.openxmlformats.org/officeDocument/2006/relationships/notesMaster" Target="/ppt/notesMasters/notesMaster1.xml" Id="R8d603575c4be467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8236c0da42b455b" /><Relationship Type="http://schemas.openxmlformats.org/officeDocument/2006/relationships/notesMaster" Target="/ppt/notesMasters/notesMaster1.xml" Id="R4eb2f2c7a48c4f0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7c97c36ce5b47d4" /><Relationship Type="http://schemas.openxmlformats.org/officeDocument/2006/relationships/notesMaster" Target="/ppt/notesMasters/notesMaster1.xml" Id="R9b09c33a59d1438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819f4323ff94038" /><Relationship Type="http://schemas.openxmlformats.org/officeDocument/2006/relationships/notesMaster" Target="/ppt/notesMasters/notesMaster1.xml" Id="Rd77e8a81faff4d1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66a13638ba4e75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aa003992dfc438a" /><Relationship Type="http://schemas.openxmlformats.org/officeDocument/2006/relationships/slideLayout" Target="/ppt/slideLayouts/slideLayout2.xml" Id="R7039701a818a416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39701a818a416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6366049adaa4be0" /><Relationship Type="http://schemas.openxmlformats.org/officeDocument/2006/relationships/notesSlide" Target="/ppt/notesSlides/notesSlide1.xml" Id="Rdbe59dfd095648d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ff577e040d2465e" /><Relationship Type="http://schemas.openxmlformats.org/officeDocument/2006/relationships/notesSlide" Target="/ppt/notesSlides/notesSlide2.xml" Id="R5bf156fc7f5044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3c36e7890f4178" /><Relationship Type="http://schemas.openxmlformats.org/officeDocument/2006/relationships/notesSlide" Target="/ppt/notesSlides/notesSlide3.xml" Id="R6f33cba02cc9421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c41e6ef290146fa" /><Relationship Type="http://schemas.openxmlformats.org/officeDocument/2006/relationships/notesSlide" Target="/ppt/notesSlides/notesSlide4.xml" Id="R1cb2c76686344d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80edd78f8da476f" /><Relationship Type="http://schemas.openxmlformats.org/officeDocument/2006/relationships/notesSlide" Target="/ppt/notesSlides/notesSlide5.xml" Id="R9c3910cbda2946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2156ba3fb084e63" /><Relationship Type="http://schemas.openxmlformats.org/officeDocument/2006/relationships/notesSlide" Target="/ppt/notesSlides/notesSlide6.xml" Id="R7d332a123f9142d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f736b738e9e416c" /><Relationship Type="http://schemas.openxmlformats.org/officeDocument/2006/relationships/notesSlide" Target="/ppt/notesSlides/notesSlide7.xml" Id="R122621ef48e2456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1F12734-F0B7-4144-914A-F398FB7C7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914400"/>
            <a:ext cx="6838950" cy="1104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200" b="1">
                <a:solidFill>
                  <a:srgbClr val="115E59"/>
                </a:solidFill>
              </a:defRPr>
            </a:pPr>
            <a:r>
              <a:rPr sz="7200" b="1">
                <a:solidFill>
                  <a:srgbClr val="115E59"/>
                </a:solidFill>
              </a:rPr>
              <a:t>Secure Comments</a:t>
            </a:r>
          </a:p>
        </p:txBody>
      </p:sp>
      <p:sp>
        <p:nvSpPr>
          <p:cNvPr id="2" name="cover-rule">
            <a:extLst xmlns:a="http://schemas.openxmlformats.org/drawingml/2006/main">
              <a:ext uri="{FF2B5EF4-FFF2-40B4-BE49-F238E27FC236}">
                <a16:creationId xmlns:a16="http://schemas.microsoft.com/office/drawing/2014/main" id="{5656D574-A3B4-46DD-8642-20DCF5391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19350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3E2835D-32D4-4C93-A8B4-A89A3FA8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95600"/>
            <a:ext cx="1173480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>
                <a:solidFill>
                  <a:srgbClr val="16202A"/>
                </a:solidFill>
              </a:defRPr>
            </a:pPr>
            <a:r>
              <a:rPr sz="2550">
                <a:solidFill>
                  <a:srgbClr val="16202A"/>
                </a:solidFill>
              </a:rPr>
              <a:t>Pengamanan aplikasi web target 80 poin: HTTPS, hash+salt, input limit, SQL injection, dan XSS.</a:t>
            </a:r>
          </a:p>
        </p:txBody>
      </p:sp>
      <p:sp>
        <p:nvSpPr>
          <p:cNvPr id="4" name="cover-context">
            <a:extLst xmlns:a="http://schemas.openxmlformats.org/drawingml/2006/main">
              <a:ext uri="{FF2B5EF4-FFF2-40B4-BE49-F238E27FC236}">
                <a16:creationId xmlns:a16="http://schemas.microsoft.com/office/drawing/2014/main" id="{9D6FFB01-0558-4C58-ADCB-083726B0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57650"/>
            <a:ext cx="16078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E6B78"/>
                </a:solidFill>
              </a:defRPr>
            </a:pPr>
            <a:r>
              <a:rPr sz="1800">
                <a:solidFill>
                  <a:srgbClr val="5E6B78"/>
                </a:solidFill>
              </a:rPr>
              <a:t>Projek CLO 2 Keamanan Sistem</a:t>
            </a:r>
          </a:p>
        </p:txBody>
      </p:sp>
    </p:spTree>
    <p:extLst>
      <p:ext uri="{BB962C8B-B14F-4D97-AF65-F5344CB8AC3E}">
        <p14:creationId xmlns:p14="http://schemas.microsoft.com/office/powerpoint/2010/main" val="49964055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F0B4325-A480-48C4-8681-F4AA1373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Pendahuluan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AA23E0B-5794-4A1E-9FA5-F2B17617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84772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Aplikasi demo komentar publik untuk menunjukkan kontrol keamanan web yang bisa diuji langsung.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DE3988DD-7957-4975-ACCF-BE2025FB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5181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Publik dapat membaca komentar tanpa login.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8BDF778E-ECD0-4F86-AC61-9751F066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45148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User terdaftar dapat menulis komentar.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85B0FC3F-8872-48E7-807E-F8E094E4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61722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Admin dapat melihat monitoring users dan comments.</a:t>
            </a:r>
          </a:p>
        </p:txBody>
      </p:sp>
      <p:sp>
        <p:nvSpPr>
          <p:cNvPr id="6" name="bullet-4">
            <a:extLst xmlns:a="http://schemas.openxmlformats.org/drawingml/2006/main">
              <a:ext uri="{FF2B5EF4-FFF2-40B4-BE49-F238E27FC236}">
                <a16:creationId xmlns:a16="http://schemas.microsoft.com/office/drawing/2014/main" id="{CF028671-2D83-44BC-AE1D-907CAC62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0550"/>
            <a:ext cx="52387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4. Demo berjalan lokal dengan Docker Compose.</a:t>
            </a:r>
          </a:p>
        </p:txBody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0662A0D9-4B48-417D-B68E-A5BFAD27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2920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19945874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377EC18-6F89-4D62-9430-D91B4738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Teori keamanan yang dipakai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C3B99958-434F-4CAD-A993-9F1B7ED6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54102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Kontrol dipilih sesuai risiko umum pada aplikasi web sederhana.</a:t>
            </a:r>
          </a:p>
        </p:txBody>
      </p:sp>
      <p:sp>
        <p:nvSpPr>
          <p:cNvPr id="3" name="method-HTTPS/TLS">
            <a:extLst xmlns:a="http://schemas.openxmlformats.org/drawingml/2006/main">
              <a:ext uri="{FF2B5EF4-FFF2-40B4-BE49-F238E27FC236}">
                <a16:creationId xmlns:a16="http://schemas.microsoft.com/office/drawing/2014/main" id="{8AB6F01C-96FD-49B1-A8C2-62249E07D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98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18EFC5-CE5D-45F0-B269-1CB6E5D0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HTTPS/TLS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8E4760-E95C-4719-822B-F59FC1B7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146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Mengenkripsi trafik browser ke Apache dengan self-signed certificate RSA 2048-bit.</a:t>
            </a:r>
          </a:p>
        </p:txBody>
      </p:sp>
      <p:sp>
        <p:nvSpPr>
          <p:cNvPr id="6" name="method-Hash + salt">
            <a:extLst xmlns:a="http://schemas.openxmlformats.org/drawingml/2006/main">
              <a:ext uri="{FF2B5EF4-FFF2-40B4-BE49-F238E27FC236}">
                <a16:creationId xmlns:a16="http://schemas.microsoft.com/office/drawing/2014/main" id="{5B327487-4C1A-4EA3-AB6A-C051453A0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898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FC929C-877F-4735-B6CC-9D7EA8F78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4955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Hash + salt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24BE08-1291-4905-86A3-BC736B40F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146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Password disimpan memakai password_hash() dan diverifikasi dengan password_verify().</a:t>
            </a:r>
          </a:p>
        </p:txBody>
      </p:sp>
      <p:sp>
        <p:nvSpPr>
          <p:cNvPr id="9" name="method-Input limit">
            <a:extLst xmlns:a="http://schemas.openxmlformats.org/drawingml/2006/main">
              <a:ext uri="{FF2B5EF4-FFF2-40B4-BE49-F238E27FC236}">
                <a16:creationId xmlns:a16="http://schemas.microsoft.com/office/drawing/2014/main" id="{9A87CFD7-758A-40B6-9473-3E658ABC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5676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84187A-E371-4032-932A-CE6169559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76250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Input limit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042A50-2BAC-47F5-97DA-89D0647D1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18160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Komentar dibatasi maksimal 500 karakter di sisi server.</a:t>
            </a:r>
          </a:p>
        </p:txBody>
      </p:sp>
      <p:sp>
        <p:nvSpPr>
          <p:cNvPr id="12" name="method-SQL injection">
            <a:extLst xmlns:a="http://schemas.openxmlformats.org/drawingml/2006/main">
              <a:ext uri="{FF2B5EF4-FFF2-40B4-BE49-F238E27FC236}">
                <a16:creationId xmlns:a16="http://schemas.microsoft.com/office/drawing/2014/main" id="{00262577-5F28-4206-AD3D-58483BA1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5676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4712F7-0FE8-4D9D-B02B-12F7614E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76250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SQL injection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0D9C84-CB7C-497C-BD74-24A045B7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18160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Query login dan komentar memakai prepared statement PDO.</a:t>
            </a:r>
          </a:p>
        </p:txBody>
      </p:sp>
      <p:sp>
        <p:nvSpPr>
          <p:cNvPr id="15" name="method-XSS">
            <a:extLst xmlns:a="http://schemas.openxmlformats.org/drawingml/2006/main">
              <a:ext uri="{FF2B5EF4-FFF2-40B4-BE49-F238E27FC236}">
                <a16:creationId xmlns:a16="http://schemas.microsoft.com/office/drawing/2014/main" id="{92CD40CA-EC5A-45CD-84CB-C0F542499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237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F61196-BA07-4488-A9B7-A9FEBFE67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70294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XSS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FB0B29-EBBF-4BEB-A884-3C5AAE516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74485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Output komentar di-escape dengan htmlspecialchars().</a:t>
            </a:r>
          </a:p>
        </p:txBody>
      </p:sp>
      <p:sp>
        <p:nvSpPr>
          <p:cNvPr id="18" name="method-Admin proof">
            <a:extLst xmlns:a="http://schemas.openxmlformats.org/drawingml/2006/main">
              <a:ext uri="{FF2B5EF4-FFF2-40B4-BE49-F238E27FC236}">
                <a16:creationId xmlns:a16="http://schemas.microsoft.com/office/drawing/2014/main" id="{AFD8045A-7B98-43A5-8E4E-992C3ABC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6823710"/>
            <a:ext cx="8229600" cy="226695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182BB8-9821-49ED-8077-9E1C07CA3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7029450"/>
            <a:ext cx="76962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0F766E"/>
                </a:solidFill>
              </a:defRPr>
            </a:pPr>
            <a:r>
              <a:rPr sz="2100" b="1">
                <a:solidFill>
                  <a:srgbClr val="0F766E"/>
                </a:solidFill>
              </a:rPr>
              <a:t>Admin proof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ADE690-5C3F-45A5-B0C8-C619BFB1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7448550"/>
            <a:ext cx="7696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Panel admin menampilkan hash password, bukan plaintext.</a:t>
            </a:r>
          </a:p>
        </p:txBody>
      </p:sp>
      <p:sp>
        <p:nvSpPr>
          <p:cNvPr id="21" name="footer">
            <a:extLst xmlns:a="http://schemas.openxmlformats.org/drawingml/2006/main">
              <a:ext uri="{FF2B5EF4-FFF2-40B4-BE49-F238E27FC236}">
                <a16:creationId xmlns:a16="http://schemas.microsoft.com/office/drawing/2014/main" id="{66016CB8-0806-4D12-AB80-0C13DF6A6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9165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178202425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E9C9CC3-EEA5-48B1-8456-9C0ECF3D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Blok diagram aplikasi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BEC04EDB-1956-47AB-8CFB-023FDBD37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7867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Alur utama: browser masuk lewat HTTPS, PHP memproses request, MySQL menyimpan data.</a:t>
            </a:r>
          </a:p>
        </p:txBody>
      </p:sp>
      <p:sp>
        <p:nvSpPr>
          <p:cNvPr id="3" name="method-Browser">
            <a:extLst xmlns:a="http://schemas.openxmlformats.org/drawingml/2006/main">
              <a:ext uri="{FF2B5EF4-FFF2-40B4-BE49-F238E27FC236}">
                <a16:creationId xmlns:a16="http://schemas.microsoft.com/office/drawing/2014/main" id="{F729F70D-CE94-4EC5-A314-F4735A42A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9810"/>
            <a:ext cx="48768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D7B133-3A60-4208-B339-DB5624CA1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495550"/>
            <a:ext cx="4343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202A"/>
                </a:solidFill>
              </a:defRPr>
            </a:pPr>
            <a:r>
              <a:rPr sz="2100" b="1">
                <a:solidFill>
                  <a:srgbClr val="16202A"/>
                </a:solidFill>
              </a:rPr>
              <a:t>Browser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19A050-19E0-4A7F-A8DD-F7DB6C3C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914650"/>
            <a:ext cx="4343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Membuka localhost:8443 dan menerima cookie session aman.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411A2F-7838-4D1F-953A-C545A1BB0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286000"/>
            <a:ext cx="571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F766E"/>
                </a:solidFill>
              </a:defRPr>
            </a:pPr>
            <a:r>
              <a:rPr sz="3300" b="1">
                <a:solidFill>
                  <a:srgbClr val="0F766E"/>
                </a:solidFill>
              </a:rPr>
              <a:t>-&gt;</a:t>
            </a:r>
          </a:p>
        </p:txBody>
      </p:sp>
      <p:sp>
        <p:nvSpPr>
          <p:cNvPr id="7" name="method-Apache + PHP">
            <a:extLst xmlns:a="http://schemas.openxmlformats.org/drawingml/2006/main">
              <a:ext uri="{FF2B5EF4-FFF2-40B4-BE49-F238E27FC236}">
                <a16:creationId xmlns:a16="http://schemas.microsoft.com/office/drawing/2014/main" id="{4390AEB5-C10F-46A7-9072-417519A9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89810"/>
            <a:ext cx="48768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B7A5E3-C0F2-41F5-9DD0-49029B490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495550"/>
            <a:ext cx="4343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15E59"/>
                </a:solidFill>
              </a:defRPr>
            </a:pPr>
            <a:r>
              <a:rPr sz="2100" b="1">
                <a:solidFill>
                  <a:srgbClr val="115E59"/>
                </a:solidFill>
              </a:rPr>
              <a:t>Apache + PHP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17D97-07FD-413D-851A-84178A53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14650"/>
            <a:ext cx="4343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Redirect HTTP ke HTTPS, autentikasi, validasi input, prepared statement, dan escaping.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4818D4-452A-437B-A12F-F403F17B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53850" y="2286000"/>
            <a:ext cx="571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F766E"/>
                </a:solidFill>
              </a:defRPr>
            </a:pPr>
            <a:r>
              <a:rPr sz="3300" b="1">
                <a:solidFill>
                  <a:srgbClr val="0F766E"/>
                </a:solidFill>
              </a:rPr>
              <a:t>-&gt;</a:t>
            </a:r>
          </a:p>
        </p:txBody>
      </p:sp>
      <p:sp>
        <p:nvSpPr>
          <p:cNvPr id="11" name="method-MySQL">
            <a:extLst xmlns:a="http://schemas.openxmlformats.org/drawingml/2006/main">
              <a:ext uri="{FF2B5EF4-FFF2-40B4-BE49-F238E27FC236}">
                <a16:creationId xmlns:a16="http://schemas.microsoft.com/office/drawing/2014/main" id="{B543D298-C1A1-4F0C-9004-C9767D3B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2289810"/>
            <a:ext cx="487680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23CBAA-8284-4FFE-BF54-BA35F6FFE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2495550"/>
            <a:ext cx="4343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6202A"/>
                </a:solidFill>
              </a:defRPr>
            </a:pPr>
            <a:r>
              <a:rPr sz="2100" b="1">
                <a:solidFill>
                  <a:srgbClr val="16202A"/>
                </a:solidFill>
              </a:rPr>
              <a:t>MySQL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DA0609-35B3-45BC-832A-61C5392C6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2914650"/>
            <a:ext cx="4343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6202A"/>
                </a:solidFill>
              </a:defRPr>
            </a:pPr>
            <a:r>
              <a:rPr sz="1575">
                <a:solidFill>
                  <a:srgbClr val="16202A"/>
                </a:solidFill>
              </a:rPr>
              <a:t>Menyimpan tabel users dan comments di network Docker kelas C.</a:t>
            </a:r>
          </a:p>
        </p:txBody>
      </p:sp>
      <p:sp>
        <p:nvSpPr>
          <p:cNvPr id="14" name="network-note">
            <a:extLst xmlns:a="http://schemas.openxmlformats.org/drawingml/2006/main">
              <a:ext uri="{FF2B5EF4-FFF2-40B4-BE49-F238E27FC236}">
                <a16:creationId xmlns:a16="http://schemas.microsoft.com/office/drawing/2014/main" id="{CF9147B1-7811-41F2-87E1-BAA1BC1A5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164592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E6B78"/>
                </a:solidFill>
              </a:defRPr>
            </a:pPr>
            <a:r>
              <a:rPr sz="1800">
                <a:solidFill>
                  <a:srgbClr val="5E6B78"/>
                </a:solidFill>
              </a:rPr>
              <a:t>Docker network: 192.168.219.0/24 | web: 192.168.219.219 | db: 192.168.219.220</a:t>
            </a:r>
          </a:p>
        </p:txBody>
      </p:sp>
      <p:sp>
        <p:nvSpPr>
          <p:cNvPr id="15" name="footer">
            <a:extLst xmlns:a="http://schemas.openxmlformats.org/drawingml/2006/main">
              <a:ext uri="{FF2B5EF4-FFF2-40B4-BE49-F238E27FC236}">
                <a16:creationId xmlns:a16="http://schemas.microsoft.com/office/drawing/2014/main" id="{8CB6C201-A893-441D-A54C-0A333B70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9580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207540658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CE18658-FE32-47F1-BAF9-3D590FDE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Metode mitigasi target 80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95ACFB7-4B2E-4B37-99EB-75600C8E5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60198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Kontrol disesuaikan dengan rubrik SSL, hash+salt, buffer, SQLi, dan XSS.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7DB252C6-272B-493A-8F66-12EC65A02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80200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SSL/TLS: HTTP diarahkan ke HTTPS dan sertifikat memakai RSA 2048-bit.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2299A9ED-6114-492E-9087-728B8BA78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8572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Hash + salt: password admin tersimpan sebagai bcrypt hash, bukan plaintext.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C37203A9-F7DD-4F16-90AD-D8B3B5AB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78486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Buffer overflow/input abuse: komentar lebih dari 500 karakter ditolak.</a:t>
            </a:r>
          </a:p>
        </p:txBody>
      </p:sp>
      <p:sp>
        <p:nvSpPr>
          <p:cNvPr id="6" name="bullet-4">
            <a:extLst xmlns:a="http://schemas.openxmlformats.org/drawingml/2006/main">
              <a:ext uri="{FF2B5EF4-FFF2-40B4-BE49-F238E27FC236}">
                <a16:creationId xmlns:a16="http://schemas.microsoft.com/office/drawing/2014/main" id="{3CD627D6-F2B3-4481-8F6D-F2B5F5EA5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00550"/>
            <a:ext cx="71247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4. SQL injection: payload login ditolak karena prepared statement.</a:t>
            </a:r>
          </a:p>
        </p:txBody>
      </p:sp>
      <p:sp>
        <p:nvSpPr>
          <p:cNvPr id="7" name="bullet-5">
            <a:extLst xmlns:a="http://schemas.openxmlformats.org/drawingml/2006/main">
              <a:ext uri="{FF2B5EF4-FFF2-40B4-BE49-F238E27FC236}">
                <a16:creationId xmlns:a16="http://schemas.microsoft.com/office/drawing/2014/main" id="{D817D374-1072-42F1-9ADC-4C70D09CE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19700"/>
            <a:ext cx="70866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5. XSS: payload script tampil sebagai teks karena output escaping.</a:t>
            </a:r>
          </a:p>
        </p:txBody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D3C72399-59D5-4C9D-8BF5-10D504A2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4835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19886108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73CB792-FD69-4D7F-9830-F8EBDCC59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Demo uji target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F9A5523-A9C5-4F35-8591-014E5E3B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52006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Urutan demo difokuskan pada kontrol target 80 yang diklaim.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C331ACF5-0BA7-4D01-A064-D0DFB343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52387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Buka HTTPS dan inspeksi sertifikat self-signed.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A4686B2F-433C-4519-9256-233598BC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66294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Akses /comment.php tanpa login, lalu login sebagai admin.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0014A1E6-61E6-4953-9AFA-4AA1A899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6191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Buka /admin.php dan tunjukkan kolom password hash.</a:t>
            </a:r>
          </a:p>
        </p:txBody>
      </p:sp>
      <p:sp>
        <p:nvSpPr>
          <p:cNvPr id="6" name="bullet-4">
            <a:extLst xmlns:a="http://schemas.openxmlformats.org/drawingml/2006/main">
              <a:ext uri="{FF2B5EF4-FFF2-40B4-BE49-F238E27FC236}">
                <a16:creationId xmlns:a16="http://schemas.microsoft.com/office/drawing/2014/main" id="{5DCF82E6-D624-48D4-8C78-31B9373FA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24400"/>
            <a:ext cx="54673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4. Jelaskan prefix bcrypt $2y$10$ dan segmen salt.</a:t>
            </a:r>
          </a:p>
        </p:txBody>
      </p:sp>
      <p:sp>
        <p:nvSpPr>
          <p:cNvPr id="7" name="bullet-5">
            <a:extLst xmlns:a="http://schemas.openxmlformats.org/drawingml/2006/main">
              <a:ext uri="{FF2B5EF4-FFF2-40B4-BE49-F238E27FC236}">
                <a16:creationId xmlns:a16="http://schemas.microsoft.com/office/drawing/2014/main" id="{3679C7D1-5590-48D0-B4C7-25471B455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43550"/>
            <a:ext cx="80010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5. Kirim komentar lebih dari 500 karakter dan tunjukkan penolakan server.</a:t>
            </a:r>
          </a:p>
        </p:txBody>
      </p:sp>
      <p:sp>
        <p:nvSpPr>
          <p:cNvPr id="8" name="bullet-6">
            <a:extLst xmlns:a="http://schemas.openxmlformats.org/drawingml/2006/main">
              <a:ext uri="{FF2B5EF4-FFF2-40B4-BE49-F238E27FC236}">
                <a16:creationId xmlns:a16="http://schemas.microsoft.com/office/drawing/2014/main" id="{2AC96488-0C07-46D9-AE6D-9203810E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19800"/>
            <a:ext cx="75438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6. Coba payload SQL injection dan XSS, lalu tunjukkan keduanya gagal.</a:t>
            </a:r>
          </a:p>
        </p:txBody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EAEA7BD4-B037-4180-902F-665E830B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97230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37185720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6D23E5F-5D4F-4991-9691-923D0F59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459200" cy="666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16202A"/>
                </a:solidFill>
              </a:defRPr>
            </a:pPr>
            <a:r>
              <a:rPr sz="4350" b="1">
                <a:solidFill>
                  <a:srgbClr val="16202A"/>
                </a:solidFill>
              </a:rPr>
              <a:t>Kesimpulan dan saran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A84B585-3055-4825-AF76-2069AE28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85900"/>
            <a:ext cx="72961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E6B78"/>
                </a:solidFill>
              </a:defRPr>
            </a:pPr>
            <a:r>
              <a:rPr sz="1650">
                <a:solidFill>
                  <a:srgbClr val="5E6B78"/>
                </a:solidFill>
              </a:rPr>
              <a:t>Aplikasi memenuhi kontrol minimum proyek dan masih bisa dikembangkan lebih jauh.</a:t>
            </a:r>
          </a:p>
        </p:txBody>
      </p:sp>
      <p:sp>
        <p:nvSpPr>
          <p:cNvPr id="3" name="bullet-1">
            <a:extLst xmlns:a="http://schemas.openxmlformats.org/drawingml/2006/main">
              <a:ext uri="{FF2B5EF4-FFF2-40B4-BE49-F238E27FC236}">
                <a16:creationId xmlns:a16="http://schemas.microsoft.com/office/drawing/2014/main" id="{C0044684-0682-449C-8D4E-7115F08D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86000"/>
            <a:ext cx="75057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1. Kontrol target 80 aktif: HTTPS, hash+salt, input limit, SQLi, dan XSS.</a:t>
            </a:r>
          </a:p>
        </p:txBody>
      </p:sp>
      <p:sp>
        <p:nvSpPr>
          <p:cNvPr id="4" name="bullet-2">
            <a:extLst xmlns:a="http://schemas.openxmlformats.org/drawingml/2006/main">
              <a:ext uri="{FF2B5EF4-FFF2-40B4-BE49-F238E27FC236}">
                <a16:creationId xmlns:a16="http://schemas.microsoft.com/office/drawing/2014/main" id="{96E71CF4-B78C-4C56-A3DB-7CAB657F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99441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2. Dokumentasi mencatat cara menjalankan, arsitektur, metode keamanan, dan skenario uji.</a:t>
            </a:r>
          </a:p>
        </p:txBody>
      </p:sp>
      <p:sp>
        <p:nvSpPr>
          <p:cNvPr id="5" name="bullet-3">
            <a:extLst xmlns:a="http://schemas.openxmlformats.org/drawingml/2006/main">
              <a:ext uri="{FF2B5EF4-FFF2-40B4-BE49-F238E27FC236}">
                <a16:creationId xmlns:a16="http://schemas.microsoft.com/office/drawing/2014/main" id="{E05E0848-C52E-40DD-B2C0-48B54BB13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929640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6202A"/>
                </a:solidFill>
              </a:defRPr>
            </a:pPr>
            <a:r>
              <a:rPr sz="2100">
                <a:solidFill>
                  <a:srgbClr val="16202A"/>
                </a:solidFill>
              </a:rPr>
              <a:t>3. Pengembangan berikutnya: audit log, reset password aman, dan sertifikat CA resmi.</a:t>
            </a:r>
          </a:p>
        </p:txBody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E7FC1B18-F15C-431F-9AC8-00555F7A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164592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E6B78"/>
                </a:solidFill>
              </a:defRPr>
            </a:pPr>
            <a:r>
              <a:rPr sz="1350">
                <a:solidFill>
                  <a:srgbClr val="5E6B78"/>
                </a:solidFill>
              </a:rPr>
              <a:t>CLO 2 Secure Comments | PHP, Apache, MySQL, Docker</a:t>
            </a:r>
          </a:p>
        </p:txBody>
      </p:sp>
    </p:spTree>
    <p:extLst>
      <p:ext uri="{BB962C8B-B14F-4D97-AF65-F5344CB8AC3E}">
        <p14:creationId xmlns:p14="http://schemas.microsoft.com/office/powerpoint/2010/main" val="16798663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2026-05-19T06:46:41.0160000Z</dcterms:created>
  <dcterms:modified xsi:type="dcterms:W3CDTF">2026-05-19T06:46:41.0160000Z</dcterms:modified>
</coreProperties>
</file>