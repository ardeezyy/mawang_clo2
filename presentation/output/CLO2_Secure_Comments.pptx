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9e845711b3423d" /><Relationship Type="http://schemas.openxmlformats.org/officeDocument/2006/relationships/extended-properties" Target="/docProps/app.xml" Id="R5d695f3ab64f4029" /><Relationship Type="http://schemas.openxmlformats.org/officeDocument/2006/relationships/officeDocument" Target="/ppt/presentation.xml" Id="R4e70188f9c4b4a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8b6b5a537d4312"/>
  </p:sldMasterIdLst>
  <p:notesMasterIdLst>
    <p:notesMasterId xmlns:r="http://schemas.openxmlformats.org/officeDocument/2006/relationships" r:id="R91b3fc6892974d9c"/>
  </p:notesMasterIdLst>
  <p:sldIdLst>
    <p:sldId xmlns:r="http://schemas.openxmlformats.org/officeDocument/2006/relationships" id="256" r:id="R6467339c6ce64f02"/>
    <p:sldId xmlns:r="http://schemas.openxmlformats.org/officeDocument/2006/relationships" id="257" r:id="R4f643337f0cd4dac"/>
    <p:sldId xmlns:r="http://schemas.openxmlformats.org/officeDocument/2006/relationships" id="258" r:id="Rdefce141697248be"/>
    <p:sldId xmlns:r="http://schemas.openxmlformats.org/officeDocument/2006/relationships" id="259" r:id="R219de9ef7c884330"/>
    <p:sldId xmlns:r="http://schemas.openxmlformats.org/officeDocument/2006/relationships" id="260" r:id="Re60c64b684e94ab3"/>
    <p:sldId xmlns:r="http://schemas.openxmlformats.org/officeDocument/2006/relationships" id="261" r:id="R944810e68b1d4557"/>
    <p:sldId xmlns:r="http://schemas.openxmlformats.org/officeDocument/2006/relationships" id="262" r:id="Rf9db8e9b83884c04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8b6b5a537d4312" /><Relationship Type="http://schemas.openxmlformats.org/officeDocument/2006/relationships/theme" Target="/ppt/theme/theme1.xml" Id="Ra5c8d3663f7f4999" /><Relationship Type="http://schemas.openxmlformats.org/officeDocument/2006/relationships/notesMaster" Target="/ppt/notesMasters/notesMaster1.xml" Id="R91b3fc6892974d9c" /><Relationship Type="http://schemas.openxmlformats.org/officeDocument/2006/relationships/presProps" Target="/ppt/presProps.xml" Id="Re9ed903c997f434f" /><Relationship Type="http://schemas.openxmlformats.org/officeDocument/2006/relationships/viewProps" Target="/ppt/viewProps.xml" Id="R3977f573e89a4f21" /><Relationship Type="http://schemas.openxmlformats.org/officeDocument/2006/relationships/tableStyles" Target="/ppt/tableStyles.xml" Id="Re48a15d9abad43cc" /><Relationship Type="http://schemas.openxmlformats.org/officeDocument/2006/relationships/slide" Target="/ppt/slides/slide1.xml" Id="R6467339c6ce64f02" /><Relationship Type="http://schemas.openxmlformats.org/officeDocument/2006/relationships/slide" Target="/ppt/slides/slide2.xml" Id="R4f643337f0cd4dac" /><Relationship Type="http://schemas.openxmlformats.org/officeDocument/2006/relationships/slide" Target="/ppt/slides/slide3.xml" Id="Rdefce141697248be" /><Relationship Type="http://schemas.openxmlformats.org/officeDocument/2006/relationships/slide" Target="/ppt/slides/slide4.xml" Id="R219de9ef7c884330" /><Relationship Type="http://schemas.openxmlformats.org/officeDocument/2006/relationships/slide" Target="/ppt/slides/slide5.xml" Id="Re60c64b684e94ab3" /><Relationship Type="http://schemas.openxmlformats.org/officeDocument/2006/relationships/slide" Target="/ppt/slides/slide6.xml" Id="R944810e68b1d4557" /><Relationship Type="http://schemas.openxmlformats.org/officeDocument/2006/relationships/slide" Target="/ppt/slides/slide7.xml" Id="Rf9db8e9b83884c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4b674da6f0d4d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c501ce097448ae" /><Relationship Type="http://schemas.openxmlformats.org/officeDocument/2006/relationships/notesMaster" Target="/ppt/notesMasters/notesMaster1.xml" Id="R40a610768cc644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52eb1d89d043c3" /><Relationship Type="http://schemas.openxmlformats.org/officeDocument/2006/relationships/notesMaster" Target="/ppt/notesMasters/notesMaster1.xml" Id="R4b43d9c7e27d4e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648ba9efbe4ffb" /><Relationship Type="http://schemas.openxmlformats.org/officeDocument/2006/relationships/notesMaster" Target="/ppt/notesMasters/notesMaster1.xml" Id="R6b88e59d164a46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d47f28b18847e8" /><Relationship Type="http://schemas.openxmlformats.org/officeDocument/2006/relationships/notesMaster" Target="/ppt/notesMasters/notesMaster1.xml" Id="R50e7f263e3e44c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d0762c11fd464b" /><Relationship Type="http://schemas.openxmlformats.org/officeDocument/2006/relationships/notesMaster" Target="/ppt/notesMasters/notesMaster1.xml" Id="R9c97c668f2c547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b9d351335942c4" /><Relationship Type="http://schemas.openxmlformats.org/officeDocument/2006/relationships/notesMaster" Target="/ppt/notesMasters/notesMaster1.xml" Id="R5cc4156f3d5b43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0f41c2540e42a4" /><Relationship Type="http://schemas.openxmlformats.org/officeDocument/2006/relationships/notesMaster" Target="/ppt/notesMasters/notesMaster1.xml" Id="R086605cdebae4e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6f741509a402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ccb146ba5264a66" /><Relationship Type="http://schemas.openxmlformats.org/officeDocument/2006/relationships/slideLayout" Target="/ppt/slideLayouts/slideLayout2.xml" Id="R3c44dbea1b404c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44dbea1b404c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158f65dce48b0" /><Relationship Type="http://schemas.openxmlformats.org/officeDocument/2006/relationships/notesSlide" Target="/ppt/notesSlides/notesSlide1.xml" Id="R9d7d57bb06084f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ed8c8bfc5a44f7" /><Relationship Type="http://schemas.openxmlformats.org/officeDocument/2006/relationships/notesSlide" Target="/ppt/notesSlides/notesSlide2.xml" Id="Rdf69d800beda4e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6a663b52f84694" /><Relationship Type="http://schemas.openxmlformats.org/officeDocument/2006/relationships/notesSlide" Target="/ppt/notesSlides/notesSlide3.xml" Id="R35b8252254c349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a42cebd6454cea" /><Relationship Type="http://schemas.openxmlformats.org/officeDocument/2006/relationships/notesSlide" Target="/ppt/notesSlides/notesSlide4.xml" Id="R2b681671d1f84c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58e3c56b8a465e" /><Relationship Type="http://schemas.openxmlformats.org/officeDocument/2006/relationships/notesSlide" Target="/ppt/notesSlides/notesSlide5.xml" Id="R720a4803213b4e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466b28f0da481b" /><Relationship Type="http://schemas.openxmlformats.org/officeDocument/2006/relationships/notesSlide" Target="/ppt/notesSlides/notesSlide6.xml" Id="Rbd5280b6e3404b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0835f9e9f54e03" /><Relationship Type="http://schemas.openxmlformats.org/officeDocument/2006/relationships/notesSlide" Target="/ppt/notesSlides/notesSlide7.xml" Id="R0950c91762f048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1D52C8A-6E6D-47AD-A585-4816D5DD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68389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115E59"/>
                </a:solidFill>
              </a:defRPr>
            </a:pPr>
            <a:r>
              <a:rPr sz="7200" b="1">
                <a:solidFill>
                  <a:srgbClr val="115E59"/>
                </a:solidFill>
              </a:rPr>
              <a:t>Secure Comments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F5EB432A-0549-45B2-A126-A5E7CA91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FB6B9DD-9532-4BDB-B22B-3E10215B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17348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16202A"/>
                </a:solidFill>
              </a:defRPr>
            </a:pPr>
            <a:r>
              <a:rPr sz="2550">
                <a:solidFill>
                  <a:srgbClr val="16202A"/>
                </a:solidFill>
              </a:rPr>
              <a:t>Pengamanan aplikasi web target 80 poin: HTTPS, hash+salt, input limit, dan SQL injection.</a:t>
            </a:r>
          </a:p>
        </p:txBody>
      </p:sp>
      <p:sp>
        <p:nvSpPr>
          <p:cNvPr id="4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7091DCEB-D079-4F32-B87E-25C2CC46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16078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Projek CLO 2 Keamanan Sistem</a:t>
            </a:r>
          </a:p>
        </p:txBody>
      </p:sp>
    </p:spTree>
    <p:extLst>
      <p:ext uri="{BB962C8B-B14F-4D97-AF65-F5344CB8AC3E}">
        <p14:creationId xmlns:p14="http://schemas.microsoft.com/office/powerpoint/2010/main" val="16778707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0A37DC-533B-43C5-9081-B4A04C13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Pendahuluan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D2CB92F-CF88-4710-95B4-73EDC4F2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847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demo komentar publik untuk menunjukkan kontrol keamanan web yang bisa diuji langsung.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45D4C1F8-AE8A-4E02-8CC9-1438B1AF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18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Publik dapat membaca komentar tanpa login.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B26C5932-062C-4297-A2EA-11964025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5148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User terdaftar dapat menulis komentar.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2C73BDE2-2790-4D13-B4E9-D5F08047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6172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Admin dapat melihat monitoring users dan comments.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76EAEE28-A318-4557-9306-0E21D5C2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523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Demo berjalan lokal dengan Docker Compose.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8E3196B-8465-4FAC-A664-FFAC8BF0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73721470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FF46CD-78BC-4FEA-960C-EF462DE8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Teori keamanan yang dipakai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41A8BAC-F306-40DF-8ABB-3674CBD7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410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Kontrol dipilih sesuai risiko umum pada aplikasi web sederhana.</a:t>
            </a:r>
          </a:p>
        </p:txBody>
      </p:sp>
      <p:sp>
        <p:nvSpPr>
          <p:cNvPr id="3" name="method-HTTPS/TLS">
            <a:extLst xmlns:a="http://schemas.openxmlformats.org/drawingml/2006/main">
              <a:ext uri="{FF2B5EF4-FFF2-40B4-BE49-F238E27FC236}">
                <a16:creationId xmlns:a16="http://schemas.microsoft.com/office/drawing/2014/main" id="{21934897-2343-4FB8-A06E-07B9ED6D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F2E53-7685-43EE-8448-93176E2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HTTPS/TLS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8843F-7BE9-4575-9472-946003DB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Mengenkripsi trafik browser ke Apache dengan self-signed certificate RSA 2048-bit.</a:t>
            </a:r>
          </a:p>
        </p:txBody>
      </p:sp>
      <p:sp>
        <p:nvSpPr>
          <p:cNvPr id="6" name="method-Hash + salt">
            <a:extLst xmlns:a="http://schemas.openxmlformats.org/drawingml/2006/main">
              <a:ext uri="{FF2B5EF4-FFF2-40B4-BE49-F238E27FC236}">
                <a16:creationId xmlns:a16="http://schemas.microsoft.com/office/drawing/2014/main" id="{0D3962FF-A42A-47BE-B6E2-629EFF2C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F27DC-0020-477B-BBE0-A526D6AB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Hash + salt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879B-1686-42C4-AD5E-3CE611A8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Password disimpan memakai password_hash() dan diverifikasi dengan password_verify().</a:t>
            </a:r>
          </a:p>
        </p:txBody>
      </p:sp>
      <p:sp>
        <p:nvSpPr>
          <p:cNvPr id="9" name="method-Input limit">
            <a:extLst xmlns:a="http://schemas.openxmlformats.org/drawingml/2006/main">
              <a:ext uri="{FF2B5EF4-FFF2-40B4-BE49-F238E27FC236}">
                <a16:creationId xmlns:a16="http://schemas.microsoft.com/office/drawing/2014/main" id="{454D515C-AF06-488C-B1FB-6F0793C6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04DCD-34F0-4849-9EC7-3C2189A2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Input limit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51799-F033-4206-B70D-FDF5AE00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Komentar dibatasi maksimal 500 karakter di sisi server.</a:t>
            </a:r>
          </a:p>
        </p:txBody>
      </p:sp>
      <p:sp>
        <p:nvSpPr>
          <p:cNvPr id="12" name="method-SQL injection">
            <a:extLst xmlns:a="http://schemas.openxmlformats.org/drawingml/2006/main">
              <a:ext uri="{FF2B5EF4-FFF2-40B4-BE49-F238E27FC236}">
                <a16:creationId xmlns:a16="http://schemas.microsoft.com/office/drawing/2014/main" id="{35D6C354-E8FA-4534-9A20-ABF5809C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46C49-41B9-4EFC-8C8F-EA8801D2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SQL injection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79837-DF73-43C7-95E6-420335D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Query login dan komentar memakai prepared statement PDO.</a:t>
            </a:r>
          </a:p>
        </p:txBody>
      </p:sp>
      <p:sp>
        <p:nvSpPr>
          <p:cNvPr id="15" name="method-Admin proof">
            <a:extLst xmlns:a="http://schemas.openxmlformats.org/drawingml/2006/main">
              <a:ext uri="{FF2B5EF4-FFF2-40B4-BE49-F238E27FC236}">
                <a16:creationId xmlns:a16="http://schemas.microsoft.com/office/drawing/2014/main" id="{C61F511A-1540-4E4F-B173-D1CA7B85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8DA3A2-2C06-423B-B216-2B8662B0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Admin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B199BF-86C0-4B47-99BD-943EB6FE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Panel admin menampilkan hash password, bukan plaintext.</a:t>
            </a:r>
          </a:p>
        </p:txBody>
      </p:sp>
      <p:sp>
        <p:nvSpPr>
          <p:cNvPr id="18" name="method-Scope">
            <a:extLst xmlns:a="http://schemas.openxmlformats.org/drawingml/2006/main">
              <a:ext uri="{FF2B5EF4-FFF2-40B4-BE49-F238E27FC236}">
                <a16:creationId xmlns:a16="http://schemas.microsoft.com/office/drawing/2014/main" id="{19EB60B7-E0AD-4C84-AAB5-643B3F89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F8AC26-6613-424C-884F-5EDA704D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Scope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2C0F74-E2BF-4E4E-BA6D-F41CFEB6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XSS dan brute force tidak diklaim pada target 80 ini.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899F20FD-4D8C-4494-9683-1C972C8D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916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6787651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930620-7966-43BE-85D0-7A9B153F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Blok diagram aplikasi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C018CFE-0B91-4EE3-A06A-07D49B2B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86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Alur utama: browser masuk lewat HTTPS, PHP memproses request, MySQL menyimpan data.</a:t>
            </a:r>
          </a:p>
        </p:txBody>
      </p:sp>
      <p:sp>
        <p:nvSpPr>
          <p:cNvPr id="3" name="method-Browser">
            <a:extLst xmlns:a="http://schemas.openxmlformats.org/drawingml/2006/main">
              <a:ext uri="{FF2B5EF4-FFF2-40B4-BE49-F238E27FC236}">
                <a16:creationId xmlns:a16="http://schemas.microsoft.com/office/drawing/2014/main" id="{8C4A51FC-4228-4E23-A04C-DD4E5BAF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1B4E5-22B3-491D-AA85-75206172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F9BBF-2F9A-4D11-BD00-5124B939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Membuka localhost:8443 dan menerima cookie session aman.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3FBA2-A701-4833-9FD9-4883D252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7" name="method-Apache + PHP">
            <a:extLst xmlns:a="http://schemas.openxmlformats.org/drawingml/2006/main">
              <a:ext uri="{FF2B5EF4-FFF2-40B4-BE49-F238E27FC236}">
                <a16:creationId xmlns:a16="http://schemas.microsoft.com/office/drawing/2014/main" id="{6019414D-5D86-4738-817C-55882EB9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7BA03-A3F3-40CC-9F69-85CCDD1B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5E59"/>
                </a:solidFill>
              </a:defRPr>
            </a:pPr>
            <a:r>
              <a:rPr sz="2100" b="1">
                <a:solidFill>
                  <a:srgbClr val="115E59"/>
                </a:solidFill>
              </a:rPr>
              <a:t>Apache + PHP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3FB58-512A-44E4-B8C9-EC3EE164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Redirect HTTP ke HTTPS, autentikasi, validasi input, dan prepared statement.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FF341-655F-4A86-8121-1E82F246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1" name="method-MySQL">
            <a:extLst xmlns:a="http://schemas.openxmlformats.org/drawingml/2006/main">
              <a:ext uri="{FF2B5EF4-FFF2-40B4-BE49-F238E27FC236}">
                <a16:creationId xmlns:a16="http://schemas.microsoft.com/office/drawing/2014/main" id="{B7DA00CF-F0C8-4FD1-92C2-6CCA290C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19FA38-75EA-4A91-841F-B7C4A554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313CA-0DB3-4C29-AE56-B9973009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Menyimpan tabel users dan comments di network Docker kelas C.</a:t>
            </a:r>
          </a:p>
        </p:txBody>
      </p:sp>
      <p:sp>
        <p:nvSpPr>
          <p:cNvPr id="14" name="network-note">
            <a:extLst xmlns:a="http://schemas.openxmlformats.org/drawingml/2006/main">
              <a:ext uri="{FF2B5EF4-FFF2-40B4-BE49-F238E27FC236}">
                <a16:creationId xmlns:a16="http://schemas.microsoft.com/office/drawing/2014/main" id="{6FE02F7C-67B2-49E3-B629-9085A261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1645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Docker network: 192.168.219.0/24 | web: 192.168.219.219 | db: 192.168.219.220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917A5F98-8526-4165-AF40-1717C0F8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1688458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0AB41A-998D-4BBE-81AB-21E178A9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Metode mitigasi target 80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E9A94DE-D9AE-466E-A1D1-0D21E40D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619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Kontrol disesuaikan dengan rubrik SSL, hash+salt, buffer, dan SQLi.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E2F513D2-E175-43A8-B6DE-F556CCF6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8020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SSL/TLS: HTTP diarahkan ke HTTPS dan sertifikat memakai RSA 2048-bit.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1D4C7371-C9DD-4EE7-97EB-1CCCE875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Hash + salt: password admin tersimpan sebagai bcrypt hash, bukan plaintext.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2916530A-30B2-4EB5-9EDC-BA482266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7848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Buffer overflow/input abuse: komentar lebih dari 500 karakter ditolak.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5063A0E3-BA3E-4029-A233-12DDAF2B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71247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SQL injection: payload login ditolak karena prepared statement.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19027267-7DE2-4BDC-8573-86189C1C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584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XSS dan brute force tidak diklaim pada target 80 ini.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7750E0D-1165-4E6F-8F37-F083E478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531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21469097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D6262A-E2A5-41CF-B55F-B1DA52B5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Demo uji target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060C2A5-F431-4E0B-8E95-E0D5C290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20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Urutan demo difokuskan pada kontrol target 80 yang diklaim.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BDE6CF48-7BE8-4372-A77D-1FD18596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Buka HTTPS dan inspeksi sertifikat self-signed.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3E05A8A8-CF64-4D8D-8AFC-EE02069B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6629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Akses /comment.php tanpa login, lalu login sebagai admin.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7B39BA17-6A10-446A-8DEE-BA3E3F60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6191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Buka /admin.php dan tunjukkan kolom password hash.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832682B9-808D-418A-BE3F-D4E042FF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5467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Jelaskan prefix bcrypt $2y$10$ dan segmen salt.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A0CD24C3-08BF-4A74-B6FA-D1A3E7F6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800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Kirim komentar lebih dari 500 karakter dan tunjukkan penolakan server.</a:t>
            </a:r>
          </a:p>
        </p:txBody>
      </p:sp>
      <p:sp>
        <p:nvSpPr>
          <p:cNvPr id="8" name="bullet-6">
            <a:extLst xmlns:a="http://schemas.openxmlformats.org/drawingml/2006/main">
              <a:ext uri="{FF2B5EF4-FFF2-40B4-BE49-F238E27FC236}">
                <a16:creationId xmlns:a16="http://schemas.microsoft.com/office/drawing/2014/main" id="{31C98A3F-43B8-4E9C-A35E-357C3A8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19800"/>
            <a:ext cx="60769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6. Coba payload SQL injection dan tunjukkan login gagal.</a:t>
            </a:r>
          </a:p>
        </p:txBody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F6406F2-76B3-4091-8206-D54E6D9B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723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4027958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D7F484-36CB-4F62-9C5C-3E89CB09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Kesimpulan dan saran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3A61456-FF29-4F74-A19E-FD892301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2961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memenuhi kontrol minimum proyek dan masih bisa dikembangkan lebih jauh.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7044391D-0753-43BE-814C-5DE2BFD8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6991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Kontrol target 80 aktif: HTTPS, hash+salt, input limit, dan SQLi.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82CE8D8C-4D93-4D5B-9995-B3C29044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9944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Dokumentasi mencatat cara menjalankan, arsitektur, metode keamanan, dan skenario uji.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6CE3C206-68F2-418C-AF1D-FE133D48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9296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Pengembangan berikutnya: audit log, reset password aman, dan sertifikat CA resmi.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DC9EB62-A1E2-4160-9C79-125963EA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4732208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2026-05-19T07:03:38.8470000Z</dcterms:created>
  <dcterms:modified xsi:type="dcterms:W3CDTF">2026-05-19T07:03:38.8470000Z</dcterms:modified>
</coreProperties>
</file>