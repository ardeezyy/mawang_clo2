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fbaf6234964d93" /><Relationship Type="http://schemas.openxmlformats.org/officeDocument/2006/relationships/extended-properties" Target="/docProps/app.xml" Id="R57c3b2678c374ef6" /><Relationship Type="http://schemas.openxmlformats.org/officeDocument/2006/relationships/officeDocument" Target="/ppt/presentation.xml" Id="Ra3dba19c69c541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ad4114f5074c30"/>
  </p:sldMasterIdLst>
  <p:notesMasterIdLst>
    <p:notesMasterId xmlns:r="http://schemas.openxmlformats.org/officeDocument/2006/relationships" r:id="R9e7ab8b9b9f04a95"/>
  </p:notesMasterIdLst>
  <p:sldIdLst>
    <p:sldId xmlns:r="http://schemas.openxmlformats.org/officeDocument/2006/relationships" id="256" r:id="Rcc9a160528884392"/>
    <p:sldId xmlns:r="http://schemas.openxmlformats.org/officeDocument/2006/relationships" id="257" r:id="R7d8bfcc808df422d"/>
    <p:sldId xmlns:r="http://schemas.openxmlformats.org/officeDocument/2006/relationships" id="258" r:id="R3a09896cc50c4a1d"/>
    <p:sldId xmlns:r="http://schemas.openxmlformats.org/officeDocument/2006/relationships" id="259" r:id="R32039f8a391d48ef"/>
    <p:sldId xmlns:r="http://schemas.openxmlformats.org/officeDocument/2006/relationships" id="260" r:id="Rc2cbb631fca84eb2"/>
    <p:sldId xmlns:r="http://schemas.openxmlformats.org/officeDocument/2006/relationships" id="261" r:id="R6961d25d21fa4d4c"/>
    <p:sldId xmlns:r="http://schemas.openxmlformats.org/officeDocument/2006/relationships" id="262" r:id="R805c26a33a494ac6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ad4114f5074c30" /><Relationship Type="http://schemas.openxmlformats.org/officeDocument/2006/relationships/theme" Target="/ppt/theme/theme1.xml" Id="Red16d7a899c14146" /><Relationship Type="http://schemas.openxmlformats.org/officeDocument/2006/relationships/notesMaster" Target="/ppt/notesMasters/notesMaster1.xml" Id="R9e7ab8b9b9f04a95" /><Relationship Type="http://schemas.openxmlformats.org/officeDocument/2006/relationships/presProps" Target="/ppt/presProps.xml" Id="R74a7bb7c393e44ba" /><Relationship Type="http://schemas.openxmlformats.org/officeDocument/2006/relationships/viewProps" Target="/ppt/viewProps.xml" Id="R3ed2b9b209ab4d5c" /><Relationship Type="http://schemas.openxmlformats.org/officeDocument/2006/relationships/tableStyles" Target="/ppt/tableStyles.xml" Id="Rc07d4d5490d648cf" /><Relationship Type="http://schemas.openxmlformats.org/officeDocument/2006/relationships/slide" Target="/ppt/slides/slide1.xml" Id="Rcc9a160528884392" /><Relationship Type="http://schemas.openxmlformats.org/officeDocument/2006/relationships/slide" Target="/ppt/slides/slide2.xml" Id="R7d8bfcc808df422d" /><Relationship Type="http://schemas.openxmlformats.org/officeDocument/2006/relationships/slide" Target="/ppt/slides/slide3.xml" Id="R3a09896cc50c4a1d" /><Relationship Type="http://schemas.openxmlformats.org/officeDocument/2006/relationships/slide" Target="/ppt/slides/slide4.xml" Id="R32039f8a391d48ef" /><Relationship Type="http://schemas.openxmlformats.org/officeDocument/2006/relationships/slide" Target="/ppt/slides/slide5.xml" Id="Rc2cbb631fca84eb2" /><Relationship Type="http://schemas.openxmlformats.org/officeDocument/2006/relationships/slide" Target="/ppt/slides/slide6.xml" Id="R6961d25d21fa4d4c" /><Relationship Type="http://schemas.openxmlformats.org/officeDocument/2006/relationships/slide" Target="/ppt/slides/slide7.xml" Id="R805c26a33a494a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8cd0d685f3a40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425a875c214001" /><Relationship Type="http://schemas.openxmlformats.org/officeDocument/2006/relationships/notesMaster" Target="/ppt/notesMasters/notesMaster1.xml" Id="R371f3a28b42149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750a5542d0432e" /><Relationship Type="http://schemas.openxmlformats.org/officeDocument/2006/relationships/notesMaster" Target="/ppt/notesMasters/notesMaster1.xml" Id="R834c8bb1ea854e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3b714d52a84626" /><Relationship Type="http://schemas.openxmlformats.org/officeDocument/2006/relationships/notesMaster" Target="/ppt/notesMasters/notesMaster1.xml" Id="R48d79cfbd5ed48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15c42f4ae541df" /><Relationship Type="http://schemas.openxmlformats.org/officeDocument/2006/relationships/notesMaster" Target="/ppt/notesMasters/notesMaster1.xml" Id="Rcfe1cc0f2d2243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8dbe42e0824eaa" /><Relationship Type="http://schemas.openxmlformats.org/officeDocument/2006/relationships/notesMaster" Target="/ppt/notesMasters/notesMaster1.xml" Id="Rcd03200ef4ac40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0f442be7484091" /><Relationship Type="http://schemas.openxmlformats.org/officeDocument/2006/relationships/notesMaster" Target="/ppt/notesMasters/notesMaster1.xml" Id="Rb175b01053dc46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76808a93fc4936" /><Relationship Type="http://schemas.openxmlformats.org/officeDocument/2006/relationships/notesMaster" Target="/ppt/notesMasters/notesMaster1.xml" Id="R656ef36133f343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f31abb3f43453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fa650e6202d4a5c" /><Relationship Type="http://schemas.openxmlformats.org/officeDocument/2006/relationships/slideLayout" Target="/ppt/slideLayouts/slideLayout2.xml" Id="Rce441f2eedee4b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441f2eedee4b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bc28d4744b4cdb" /><Relationship Type="http://schemas.openxmlformats.org/officeDocument/2006/relationships/notesSlide" Target="/ppt/notesSlides/notesSlide1.xml" Id="Rded07c05ea9543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959f35e32946cf" /><Relationship Type="http://schemas.openxmlformats.org/officeDocument/2006/relationships/notesSlide" Target="/ppt/notesSlides/notesSlide2.xml" Id="R82981e7b27aa41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47e1db7fbc4669" /><Relationship Type="http://schemas.openxmlformats.org/officeDocument/2006/relationships/notesSlide" Target="/ppt/notesSlides/notesSlide3.xml" Id="R7f159cd898174e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de92d42a9490c" /><Relationship Type="http://schemas.openxmlformats.org/officeDocument/2006/relationships/notesSlide" Target="/ppt/notesSlides/notesSlide4.xml" Id="R7a4b17f88f9646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c0963f8f624d74" /><Relationship Type="http://schemas.openxmlformats.org/officeDocument/2006/relationships/notesSlide" Target="/ppt/notesSlides/notesSlide5.xml" Id="R841033ce8be841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43f6edbe934a60" /><Relationship Type="http://schemas.openxmlformats.org/officeDocument/2006/relationships/notesSlide" Target="/ppt/notesSlides/notesSlide6.xml" Id="R1f3b249f67b947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c11d19c6a8472e" /><Relationship Type="http://schemas.openxmlformats.org/officeDocument/2006/relationships/notesSlide" Target="/ppt/notesSlides/notesSlide7.xml" Id="R573530b3664649e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29E19B3-ACE2-4467-BB18-DA00034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914400"/>
            <a:ext cx="68389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115E59"/>
                </a:solidFill>
              </a:defRPr>
            </a:pPr>
            <a:r>
              <a:rPr sz="7200" b="1">
                <a:solidFill>
                  <a:srgbClr val="115E59"/>
                </a:solidFill>
              </a:rPr>
              <a:t>Secure Comments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D069ED89-7EB3-4F76-8ECD-897FED23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4F7FCC8-AD29-4144-BAFF-F3550308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106299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16202A"/>
                </a:solidFill>
              </a:defRPr>
            </a:pPr>
            <a:r>
              <a:rPr sz="2550">
                <a:solidFill>
                  <a:srgbClr val="16202A"/>
                </a:solidFill>
              </a:rPr>
              <a:t>Pengamanan aplikasi web target 80 poin: HTTPS, hash password dengan salt, dan pembatasan input berlebihan.</a:t>
            </a:r>
          </a:p>
        </p:txBody>
      </p:sp>
      <p:sp>
        <p:nvSpPr>
          <p:cNvPr id="4" name="cover-context">
            <a:extLst xmlns:a="http://schemas.openxmlformats.org/drawingml/2006/main">
              <a:ext uri="{FF2B5EF4-FFF2-40B4-BE49-F238E27FC236}">
                <a16:creationId xmlns:a16="http://schemas.microsoft.com/office/drawing/2014/main" id="{ED879370-D01C-4301-BD7C-141384FC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57650"/>
            <a:ext cx="16078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Projek CLO 2 Keamanan Sistem</a:t>
            </a:r>
          </a:p>
        </p:txBody>
      </p:sp>
    </p:spTree>
    <p:extLst>
      <p:ext uri="{BB962C8B-B14F-4D97-AF65-F5344CB8AC3E}">
        <p14:creationId xmlns:p14="http://schemas.microsoft.com/office/powerpoint/2010/main" val="46380968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FBD61E-7F12-4A2E-823B-366487DC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Pendahuluan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25D4B27-5368-4606-B956-14A1F540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8477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Aplikasi demo komentar publik untuk menunjukkan kontrol keamanan web yang bisa diuji langsung.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188E90B8-D833-4A8B-8837-33378EF6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18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Publik dapat membaca komentar tanpa login.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F6135850-08FE-41AA-9E53-9927E4E4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5148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User terdaftar dapat menulis komentar.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C401E9AE-9766-4DEF-8D01-2488FBC4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6172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Admin dapat melihat monitoring users dan comments.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A291BE1C-EB38-4238-9AC8-AF1F82ED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523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Demo berjalan lokal dengan Docker Compose.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D090349-B28A-4726-B864-7002D2B3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3911078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84E466-0567-40B0-A7BB-0143302B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Teori keamanan yang dipakai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9E193D7-AA70-416F-92D1-A2D6ED4A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5410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Kontrol dipilih sesuai risiko umum pada aplikasi web sederhana.</a:t>
            </a:r>
          </a:p>
        </p:txBody>
      </p:sp>
      <p:sp>
        <p:nvSpPr>
          <p:cNvPr id="3" name="method-HTTPS/TLS">
            <a:extLst xmlns:a="http://schemas.openxmlformats.org/drawingml/2006/main">
              <a:ext uri="{FF2B5EF4-FFF2-40B4-BE49-F238E27FC236}">
                <a16:creationId xmlns:a16="http://schemas.microsoft.com/office/drawing/2014/main" id="{B2741C7B-29B2-4746-B9CE-359D4011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3C4BF8-F8CB-44B8-B405-0865E56E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HTTPS/TLS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6F86-9B4A-4F99-A389-EA46825E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Mengenkripsi trafik browser ke Apache dengan self-signed certificate RSA 2048-bit.</a:t>
            </a:r>
          </a:p>
        </p:txBody>
      </p:sp>
      <p:sp>
        <p:nvSpPr>
          <p:cNvPr id="6" name="method-Hash + salt">
            <a:extLst xmlns:a="http://schemas.openxmlformats.org/drawingml/2006/main">
              <a:ext uri="{FF2B5EF4-FFF2-40B4-BE49-F238E27FC236}">
                <a16:creationId xmlns:a16="http://schemas.microsoft.com/office/drawing/2014/main" id="{69ADCED0-A668-4F89-A4AE-AE970D6A2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03182C-E3FF-4DCF-B492-036EAB56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Hash + salt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6CCFF-52AD-434F-B31C-81473015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Password disimpan memakai password_hash() dan diverifikasi dengan password_verify().</a:t>
            </a:r>
          </a:p>
        </p:txBody>
      </p:sp>
      <p:sp>
        <p:nvSpPr>
          <p:cNvPr id="9" name="method-HTTPS/TLS">
            <a:extLst xmlns:a="http://schemas.openxmlformats.org/drawingml/2006/main">
              <a:ext uri="{FF2B5EF4-FFF2-40B4-BE49-F238E27FC236}">
                <a16:creationId xmlns:a16="http://schemas.microsoft.com/office/drawing/2014/main" id="{AF8E123D-A8FA-4E77-A877-3E0BBD08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6441F2-68C4-43BD-AD02-EFB82E9B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HTTPS/TLS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12A0DB-34CD-4556-8433-CD4ACAF3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Apache memakai self-signed certificate RSA 2048-bit untuk demo lokal.</a:t>
            </a:r>
          </a:p>
        </p:txBody>
      </p:sp>
      <p:sp>
        <p:nvSpPr>
          <p:cNvPr id="12" name="method-Hash + salt">
            <a:extLst xmlns:a="http://schemas.openxmlformats.org/drawingml/2006/main">
              <a:ext uri="{FF2B5EF4-FFF2-40B4-BE49-F238E27FC236}">
                <a16:creationId xmlns:a16="http://schemas.microsoft.com/office/drawing/2014/main" id="{2B8AE0AC-294A-4762-A96D-E73935F1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CCC8C-81B9-476B-A38E-04D222EB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Hash + salt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BEEF6-6507-4846-8F8F-1215AD04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Password disimpan memakai password_hash() dengan salt otomatis.</a:t>
            </a:r>
          </a:p>
        </p:txBody>
      </p:sp>
      <p:sp>
        <p:nvSpPr>
          <p:cNvPr id="15" name="method-Input limit">
            <a:extLst xmlns:a="http://schemas.openxmlformats.org/drawingml/2006/main">
              <a:ext uri="{FF2B5EF4-FFF2-40B4-BE49-F238E27FC236}">
                <a16:creationId xmlns:a16="http://schemas.microsoft.com/office/drawing/2014/main" id="{87DC62DD-F4E0-4454-8197-73C09E18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BEF1D-8DFD-4078-9061-33AF950C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Input limit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52AFD7-E54C-4DEA-9D48-AD0C3949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Komentar dibatasi maksimal 500 karakter di sisi server.</a:t>
            </a:r>
          </a:p>
        </p:txBody>
      </p:sp>
      <p:sp>
        <p:nvSpPr>
          <p:cNvPr id="18" name="method-Admin proof">
            <a:extLst xmlns:a="http://schemas.openxmlformats.org/drawingml/2006/main">
              <a:ext uri="{FF2B5EF4-FFF2-40B4-BE49-F238E27FC236}">
                <a16:creationId xmlns:a16="http://schemas.microsoft.com/office/drawing/2014/main" id="{89034156-6421-4C44-8F96-6E8119B2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332735-8D8D-41EB-AF50-80E58360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Admin proof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DB9F7-5F92-4EDC-AA1F-1525B2AC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Panel admin menampilkan hash password, bukan plaintext.</a:t>
            </a:r>
          </a:p>
        </p:txBody>
      </p:sp>
      <p:sp>
        <p:nvSpPr>
          <p:cNvPr id="21" name="footer">
            <a:extLst xmlns:a="http://schemas.openxmlformats.org/drawingml/2006/main">
              <a:ext uri="{FF2B5EF4-FFF2-40B4-BE49-F238E27FC236}">
                <a16:creationId xmlns:a16="http://schemas.microsoft.com/office/drawing/2014/main" id="{261FDF3D-570D-42F9-BD89-00E29BE6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916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50269098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06C737-51FC-446B-A857-3EE5DBBF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Blok diagram aplikasi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E49AF4B-F1A9-45A3-B0B3-A3E2EA09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7867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Alur utama: browser masuk lewat HTTPS, PHP memproses request, MySQL menyimpan data.</a:t>
            </a:r>
          </a:p>
        </p:txBody>
      </p:sp>
      <p:sp>
        <p:nvSpPr>
          <p:cNvPr id="3" name="method-Browser">
            <a:extLst xmlns:a="http://schemas.openxmlformats.org/drawingml/2006/main">
              <a:ext uri="{FF2B5EF4-FFF2-40B4-BE49-F238E27FC236}">
                <a16:creationId xmlns:a16="http://schemas.microsoft.com/office/drawing/2014/main" id="{83F758F1-4787-4C71-8F89-59560BE3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F0D44-9553-4BED-AA6D-922EE1D6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Browser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FCCCC-3ABA-454E-8421-D62C0A87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Membuka localhost:8443 dan menerima cookie session aman.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C0392-0C39-4A67-9B0A-13AD2CBE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28600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7" name="method-Apache + PHP">
            <a:extLst xmlns:a="http://schemas.openxmlformats.org/drawingml/2006/main">
              <a:ext uri="{FF2B5EF4-FFF2-40B4-BE49-F238E27FC236}">
                <a16:creationId xmlns:a16="http://schemas.microsoft.com/office/drawing/2014/main" id="{E1603C42-2AC0-4D73-BD85-AC188F7F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5CA5C-C3CB-4770-B01E-A5084054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5E59"/>
                </a:solidFill>
              </a:defRPr>
            </a:pPr>
            <a:r>
              <a:rPr sz="2100" b="1">
                <a:solidFill>
                  <a:srgbClr val="115E59"/>
                </a:solidFill>
              </a:rPr>
              <a:t>Apache + PHP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4EDF2C-98FD-45AA-BAAD-363464C7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Redirect HTTP ke HTTPS, autentikasi, dan validasi panjang input.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407B29-B12A-4ADD-B041-6F426A4E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228600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11" name="method-MySQL">
            <a:extLst xmlns:a="http://schemas.openxmlformats.org/drawingml/2006/main">
              <a:ext uri="{FF2B5EF4-FFF2-40B4-BE49-F238E27FC236}">
                <a16:creationId xmlns:a16="http://schemas.microsoft.com/office/drawing/2014/main" id="{5DA29511-3FFB-47B8-ACCD-F4C4463F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0ED8C-2B9F-4054-B43C-4DF52C33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B7A76-2DC4-406B-A111-6FC8C746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Menyimpan tabel users dan comments di network Docker kelas C.</a:t>
            </a:r>
          </a:p>
        </p:txBody>
      </p:sp>
      <p:sp>
        <p:nvSpPr>
          <p:cNvPr id="14" name="network-note">
            <a:extLst xmlns:a="http://schemas.openxmlformats.org/drawingml/2006/main">
              <a:ext uri="{FF2B5EF4-FFF2-40B4-BE49-F238E27FC236}">
                <a16:creationId xmlns:a16="http://schemas.microsoft.com/office/drawing/2014/main" id="{A56FFEC2-21E8-45AC-9C59-65DCADE3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1645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Docker network: 192.168.240.0/24 | web: 192.168.240.10 | db: 192.168.240.11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8E8CE3C4-3AF0-4599-BB69-D470ADBA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8922597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D02A8C-514C-4AD1-90D5-DA17587A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Metode mitigasi target 80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F6AE913-35AE-45BD-806B-5B90E9D3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6172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Scope berhenti sampai buffer overflow/input berlebih sesuai target nilai.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74A3CC07-B5F5-4676-B231-8E980CFA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8020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SSL/TLS: HTTP diarahkan ke HTTPS dan sertifikat memakai RSA 2048-bit.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CFFF2CD0-751B-4763-B31A-4FB4F860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Hash + salt: password admin tersimpan sebagai bcrypt hash, bukan plaintext.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CD45AD73-FB82-4EE4-BC6C-A1FEEDBE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78486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Buffer overflow/input abuse: komentar lebih dari 500 karakter ditolak.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AC7D88DC-CF3B-4AE3-B006-63D59D5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8458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Admin panel: hash password ditampilkan sebagai bukti penyimpanan aman.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F51693D-0EF4-40D8-AAD8-BC844A56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202658871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0477CE-EAE7-4F0C-93FD-69C3090B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Demo uji target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24BFA81-F39D-4724-B244-40F2BC03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47434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Urutan demo difokuskan pada tiga kontrol yang diklaim.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11059C8C-2ECC-4C9D-8A68-B696CB54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2387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Buka HTTPS dan inspeksi sertifikat self-signed.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7EE4C92F-112C-4D98-8272-A39B96C4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6629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Akses /comment.php tanpa login, lalu login sebagai admin.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4108BBD3-2E6A-46ED-AF1C-92AB27F5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6191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Buka /admin.php dan tunjukkan kolom password hash.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D557BE80-5C83-4139-BD9A-441BE11F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24400"/>
            <a:ext cx="5467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Jelaskan prefix bcrypt $2y$10$ dan segmen salt.</a:t>
            </a:r>
          </a:p>
        </p:txBody>
      </p:sp>
      <p:sp>
        <p:nvSpPr>
          <p:cNvPr id="7" name="bullet-5">
            <a:extLst xmlns:a="http://schemas.openxmlformats.org/drawingml/2006/main">
              <a:ext uri="{FF2B5EF4-FFF2-40B4-BE49-F238E27FC236}">
                <a16:creationId xmlns:a16="http://schemas.microsoft.com/office/drawing/2014/main" id="{7808C57B-590E-4C1C-97E4-B9247F1B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43550"/>
            <a:ext cx="8001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5. Kirim komentar lebih dari 500 karakter dan tunjukkan penolakan server.</a:t>
            </a:r>
          </a:p>
        </p:txBody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90006F6-2030-4532-A479-B1C2ADDA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531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80030842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EDC671-A6C1-4820-AE74-473A121B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Kesimpulan dan saran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2FDC04A-5EC0-41B7-9017-3B5F48AC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72961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Aplikasi memenuhi kontrol minimum proyek dan masih bisa dikembangkan lebih jauh.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749657A5-64D9-405A-A7F9-BE2DA349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239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Kontrol target 80 aktif: HTTPS, hash+salt, dan pembatasan input.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5E514813-C469-4940-844A-714285BA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944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Dokumentasi mencatat cara menjalankan, arsitektur, metode keamanan, dan skenario uji.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1E2267E6-3923-4161-9EAF-EEF2B34E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9296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Pengembangan berikutnya: audit log, reset password aman, dan sertifikat CA resmi.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2EEF049-9617-4B7C-9975-AEC798F1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8879944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2026-05-11T17:35:45.2860000Z</dcterms:created>
  <dcterms:modified xsi:type="dcterms:W3CDTF">2026-05-11T17:35:45.2870000Z</dcterms:modified>
</coreProperties>
</file>