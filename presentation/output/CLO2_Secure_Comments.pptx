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e889d8c75b438a" /><Relationship Type="http://schemas.openxmlformats.org/officeDocument/2006/relationships/extended-properties" Target="/docProps/app.xml" Id="R9804580027154519" /><Relationship Type="http://schemas.openxmlformats.org/officeDocument/2006/relationships/officeDocument" Target="/ppt/presentation.xml" Id="Re7119f7c19c742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a9a4b919e44e58"/>
  </p:sldMasterIdLst>
  <p:notesMasterIdLst>
    <p:notesMasterId xmlns:r="http://schemas.openxmlformats.org/officeDocument/2006/relationships" r:id="R385c2a81f8ee46d7"/>
  </p:notesMasterIdLst>
  <p:sldIdLst>
    <p:sldId xmlns:r="http://schemas.openxmlformats.org/officeDocument/2006/relationships" id="256" r:id="R92b1c10a3c63482b"/>
    <p:sldId xmlns:r="http://schemas.openxmlformats.org/officeDocument/2006/relationships" id="257" r:id="Rd8029ff45ff24826"/>
    <p:sldId xmlns:r="http://schemas.openxmlformats.org/officeDocument/2006/relationships" id="258" r:id="Rc9e61af8257643cb"/>
    <p:sldId xmlns:r="http://schemas.openxmlformats.org/officeDocument/2006/relationships" id="259" r:id="R55ce1eb29c2b4e63"/>
    <p:sldId xmlns:r="http://schemas.openxmlformats.org/officeDocument/2006/relationships" id="260" r:id="Re083ac3a19e3413d"/>
    <p:sldId xmlns:r="http://schemas.openxmlformats.org/officeDocument/2006/relationships" id="261" r:id="Re457282cb4ee48d3"/>
    <p:sldId xmlns:r="http://schemas.openxmlformats.org/officeDocument/2006/relationships" id="262" r:id="R43fca7a3a8a046aa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a9a4b919e44e58" /><Relationship Type="http://schemas.openxmlformats.org/officeDocument/2006/relationships/theme" Target="/ppt/theme/theme1.xml" Id="Rf0018a754fcc448b" /><Relationship Type="http://schemas.openxmlformats.org/officeDocument/2006/relationships/notesMaster" Target="/ppt/notesMasters/notesMaster1.xml" Id="R385c2a81f8ee46d7" /><Relationship Type="http://schemas.openxmlformats.org/officeDocument/2006/relationships/presProps" Target="/ppt/presProps.xml" Id="R160f7acadb704624" /><Relationship Type="http://schemas.openxmlformats.org/officeDocument/2006/relationships/viewProps" Target="/ppt/viewProps.xml" Id="R4d743b87d8194aed" /><Relationship Type="http://schemas.openxmlformats.org/officeDocument/2006/relationships/tableStyles" Target="/ppt/tableStyles.xml" Id="R6718f8cf3d864598" /><Relationship Type="http://schemas.openxmlformats.org/officeDocument/2006/relationships/slide" Target="/ppt/slides/slide1.xml" Id="R92b1c10a3c63482b" /><Relationship Type="http://schemas.openxmlformats.org/officeDocument/2006/relationships/slide" Target="/ppt/slides/slide2.xml" Id="Rd8029ff45ff24826" /><Relationship Type="http://schemas.openxmlformats.org/officeDocument/2006/relationships/slide" Target="/ppt/slides/slide3.xml" Id="Rc9e61af8257643cb" /><Relationship Type="http://schemas.openxmlformats.org/officeDocument/2006/relationships/slide" Target="/ppt/slides/slide4.xml" Id="R55ce1eb29c2b4e63" /><Relationship Type="http://schemas.openxmlformats.org/officeDocument/2006/relationships/slide" Target="/ppt/slides/slide5.xml" Id="Re083ac3a19e3413d" /><Relationship Type="http://schemas.openxmlformats.org/officeDocument/2006/relationships/slide" Target="/ppt/slides/slide6.xml" Id="Re457282cb4ee48d3" /><Relationship Type="http://schemas.openxmlformats.org/officeDocument/2006/relationships/slide" Target="/ppt/slides/slide7.xml" Id="R43fca7a3a8a046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aa3797fc59b48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4bc3770a9f428e" /><Relationship Type="http://schemas.openxmlformats.org/officeDocument/2006/relationships/notesMaster" Target="/ppt/notesMasters/notesMaster1.xml" Id="Rc107c0cab17945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64de0337704b71" /><Relationship Type="http://schemas.openxmlformats.org/officeDocument/2006/relationships/notesMaster" Target="/ppt/notesMasters/notesMaster1.xml" Id="Rbe29d8c908f14a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10a910ef4a45fa" /><Relationship Type="http://schemas.openxmlformats.org/officeDocument/2006/relationships/notesMaster" Target="/ppt/notesMasters/notesMaster1.xml" Id="R2a77d143ec4e49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8f0a98c6d44fde" /><Relationship Type="http://schemas.openxmlformats.org/officeDocument/2006/relationships/notesMaster" Target="/ppt/notesMasters/notesMaster1.xml" Id="R0515836c929c40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e8536e21434a90" /><Relationship Type="http://schemas.openxmlformats.org/officeDocument/2006/relationships/notesMaster" Target="/ppt/notesMasters/notesMaster1.xml" Id="R1bed917d77584e5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f35567e0fe4004" /><Relationship Type="http://schemas.openxmlformats.org/officeDocument/2006/relationships/notesMaster" Target="/ppt/notesMasters/notesMaster1.xml" Id="Rea9d619662844d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c1c66763734be8" /><Relationship Type="http://schemas.openxmlformats.org/officeDocument/2006/relationships/notesMaster" Target="/ppt/notesMasters/notesMaster1.xml" Id="R019d63191c0542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ed539446c8400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7364af6fbcd4573" /><Relationship Type="http://schemas.openxmlformats.org/officeDocument/2006/relationships/slideLayout" Target="/ppt/slideLayouts/slideLayout2.xml" Id="Rbe7754cf67334f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7754cf67334f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6121262ce4404a" /><Relationship Type="http://schemas.openxmlformats.org/officeDocument/2006/relationships/notesSlide" Target="/ppt/notesSlides/notesSlide1.xml" Id="R3e45632e0f6d41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352736e3354c71" /><Relationship Type="http://schemas.openxmlformats.org/officeDocument/2006/relationships/notesSlide" Target="/ppt/notesSlides/notesSlide2.xml" Id="Rd1e1465b1b3a4f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4a2911108f41f0" /><Relationship Type="http://schemas.openxmlformats.org/officeDocument/2006/relationships/notesSlide" Target="/ppt/notesSlides/notesSlide3.xml" Id="Rf0ff2fadd6134c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6d5c5a55934e70" /><Relationship Type="http://schemas.openxmlformats.org/officeDocument/2006/relationships/notesSlide" Target="/ppt/notesSlides/notesSlide4.xml" Id="Rf62dde89d4124a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f70d38957543a3" /><Relationship Type="http://schemas.openxmlformats.org/officeDocument/2006/relationships/notesSlide" Target="/ppt/notesSlides/notesSlide5.xml" Id="Rabd34c1df90d49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4059cd4653497f" /><Relationship Type="http://schemas.openxmlformats.org/officeDocument/2006/relationships/notesSlide" Target="/ppt/notesSlides/notesSlide6.xml" Id="Re7cd5fe1dc6e4f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9bd802caac442b" /><Relationship Type="http://schemas.openxmlformats.org/officeDocument/2006/relationships/notesSlide" Target="/ppt/notesSlides/notesSlide7.xml" Id="Rd13fb5d56e264f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B61F48F-54BC-4C61-A55C-A64A1E44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914400"/>
            <a:ext cx="68389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115E59"/>
                </a:solidFill>
              </a:defRPr>
            </a:pPr>
            <a:r>
              <a:rPr sz="7200" b="1">
                <a:solidFill>
                  <a:srgbClr val="115E59"/>
                </a:solidFill>
              </a:rPr>
              <a:t>Secure Comments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7BDDA44D-4A3F-452B-8FB0-49299263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EE045CB-599C-4C1A-A671-7C9FD7D1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95600"/>
            <a:ext cx="11963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16202A"/>
                </a:solidFill>
              </a:defRPr>
            </a:pPr>
            <a:r>
              <a:rPr sz="2550">
                <a:solidFill>
                  <a:srgbClr val="16202A"/>
                </a:solidFill>
              </a:rPr>
              <a:t>Skenario aplikasi sebelum pengamanan: password plaintext, SQL injection, XSS, tanpa CSRF, dan tanpa batas input.</a:t>
            </a:r>
          </a:p>
        </p:txBody>
      </p:sp>
      <p:sp>
        <p:nvSpPr>
          <p:cNvPr id="4" name="cover-context">
            <a:extLst xmlns:a="http://schemas.openxmlformats.org/drawingml/2006/main">
              <a:ext uri="{FF2B5EF4-FFF2-40B4-BE49-F238E27FC236}">
                <a16:creationId xmlns:a16="http://schemas.microsoft.com/office/drawing/2014/main" id="{C298C413-1A62-44A7-9389-2352B82A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57650"/>
            <a:ext cx="16078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6B78"/>
                </a:solidFill>
              </a:defRPr>
            </a:pPr>
            <a:r>
              <a:rPr sz="1800">
                <a:solidFill>
                  <a:srgbClr val="5E6B78"/>
                </a:solidFill>
              </a:rPr>
              <a:t>Skenario non-secure untuk pembanding branch secure-login</a:t>
            </a:r>
          </a:p>
        </p:txBody>
      </p:sp>
    </p:spTree>
    <p:extLst>
      <p:ext uri="{BB962C8B-B14F-4D97-AF65-F5344CB8AC3E}">
        <p14:creationId xmlns:p14="http://schemas.microsoft.com/office/powerpoint/2010/main" val="4645054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DF04724-A2D9-4C8F-962C-A7CD0C9F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Pendahuluan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F7E90AB-8DB7-4575-A33B-C42775B5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7848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Aplikasi komentar publik untuk menunjukkan kondisi sebelum kontrol keamanan diterapkan.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33252704-2236-4D13-B625-811A44FC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518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Publik dapat membaca komentar tanpa login.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206CC176-AD12-459E-B075-70473CD0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45148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User terdaftar dapat menulis komentar.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4AE86F33-B290-4207-968E-22BDC86B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6172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Admin dapat melihat monitoring users dan comments.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B0CCD9F6-03DA-4364-87A7-4AE8849C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7315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Berjalan lokal dengan Docker Compose dan identitas Nama+NIM.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34C2AFD-013E-4DED-ABEC-577D2C89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Non-Secure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48198578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6A928A-98CA-4CC0-87E1-654C1682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Kontrol yang dimatikan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C3E007C-96C8-4E15-A9F1-9EE20C8E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61150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Branch ini sengaja dibuat rentan untuk menunjukkan risiko aplikasi web.</a:t>
            </a:r>
          </a:p>
        </p:txBody>
      </p:sp>
      <p:sp>
        <p:nvSpPr>
          <p:cNvPr id="3" name="method-Password plaintext">
            <a:extLst xmlns:a="http://schemas.openxmlformats.org/drawingml/2006/main">
              <a:ext uri="{FF2B5EF4-FFF2-40B4-BE49-F238E27FC236}">
                <a16:creationId xmlns:a16="http://schemas.microsoft.com/office/drawing/2014/main" id="{EFB79A3A-713F-4009-9F1D-EF9E04CD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98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E2413F-FBB4-444F-B204-F6F0F09C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Password plaintext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29F6C9-F761-4E98-8948-61B1F41F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146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Password admin dan user disimpan apa adanya tanpa hash dan salt.</a:t>
            </a:r>
          </a:p>
        </p:txBody>
      </p:sp>
      <p:sp>
        <p:nvSpPr>
          <p:cNvPr id="6" name="method-Raw SQL">
            <a:extLst xmlns:a="http://schemas.openxmlformats.org/drawingml/2006/main">
              <a:ext uri="{FF2B5EF4-FFF2-40B4-BE49-F238E27FC236}">
                <a16:creationId xmlns:a16="http://schemas.microsoft.com/office/drawing/2014/main" id="{435DCEB3-2066-44EA-BD58-4B2BD274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898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974089-DE10-4E94-9BCE-E1BEBB87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955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Raw 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EB10A2-D3C6-4F06-9741-E69745C4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146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Login menyusun query dari input user tanpa prepared statement.</a:t>
            </a:r>
          </a:p>
        </p:txBody>
      </p:sp>
      <p:sp>
        <p:nvSpPr>
          <p:cNvPr id="9" name="method-No CSRF">
            <a:extLst xmlns:a="http://schemas.openxmlformats.org/drawingml/2006/main">
              <a:ext uri="{FF2B5EF4-FFF2-40B4-BE49-F238E27FC236}">
                <a16:creationId xmlns:a16="http://schemas.microsoft.com/office/drawing/2014/main" id="{3CEA039B-5354-4FBD-A945-A611EFC4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676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8AF0C-7DD0-4EE4-8672-7DC7E543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6250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No CSRF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72396-7683-417D-B1EF-922EA35B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8160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Form POST tetap diterima meskipun tidak membawa token CSRF.</a:t>
            </a:r>
          </a:p>
        </p:txBody>
      </p:sp>
      <p:sp>
        <p:nvSpPr>
          <p:cNvPr id="12" name="method-Raw output">
            <a:extLst xmlns:a="http://schemas.openxmlformats.org/drawingml/2006/main">
              <a:ext uri="{FF2B5EF4-FFF2-40B4-BE49-F238E27FC236}">
                <a16:creationId xmlns:a16="http://schemas.microsoft.com/office/drawing/2014/main" id="{107434F7-A1C5-4418-825D-25D2D2C4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5676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A67EE-AD86-4CAC-8DB3-634F25A3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76250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Raw 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E5B8CC-DDEC-49D1-A705-4AF3F2CF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18160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Komentar dirender langsung tanpa htmlspecialchars().</a:t>
            </a:r>
          </a:p>
        </p:txBody>
      </p:sp>
      <p:sp>
        <p:nvSpPr>
          <p:cNvPr id="15" name="method-No input limit">
            <a:extLst xmlns:a="http://schemas.openxmlformats.org/drawingml/2006/main">
              <a:ext uri="{FF2B5EF4-FFF2-40B4-BE49-F238E27FC236}">
                <a16:creationId xmlns:a16="http://schemas.microsoft.com/office/drawing/2014/main" id="{1333E01C-1250-492A-9063-0F7E3EA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237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8DF8DE-1127-44E1-8377-A175846C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70294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No input limit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C203F3-7E1F-4C9D-9B53-2D2B908E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74485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Komentar tidak dibatasi 500 karakter di server maupun client.</a:t>
            </a:r>
          </a:p>
        </p:txBody>
      </p:sp>
      <p:sp>
        <p:nvSpPr>
          <p:cNvPr id="18" name="method-No role check">
            <a:extLst xmlns:a="http://schemas.openxmlformats.org/drawingml/2006/main">
              <a:ext uri="{FF2B5EF4-FFF2-40B4-BE49-F238E27FC236}">
                <a16:creationId xmlns:a16="http://schemas.microsoft.com/office/drawing/2014/main" id="{FDC02E75-A935-434A-B4B0-943AA337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8237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675959-9323-432E-BD0F-1C794F87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0294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No role check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855A9D-5F1C-483A-B29B-CE84F1304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4485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Admin panel tidak membatasi akses berdasarkan role.</a:t>
            </a:r>
          </a:p>
        </p:txBody>
      </p:sp>
      <p:sp>
        <p:nvSpPr>
          <p:cNvPr id="21" name="footer">
            <a:extLst xmlns:a="http://schemas.openxmlformats.org/drawingml/2006/main">
              <a:ext uri="{FF2B5EF4-FFF2-40B4-BE49-F238E27FC236}">
                <a16:creationId xmlns:a16="http://schemas.microsoft.com/office/drawing/2014/main" id="{8F1EBB15-2697-4120-9116-E46F6969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916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Non-Secure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9183128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069C8D-0D01-4881-88FC-6E1F2C89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Blok diagram aplikasi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C5BE355-B1C3-40B6-994A-B4E69C65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62293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Alur utama: browser masuk ke Apache/PHP lalu MySQL menyimpan data.</a:t>
            </a:r>
          </a:p>
        </p:txBody>
      </p:sp>
      <p:sp>
        <p:nvSpPr>
          <p:cNvPr id="3" name="method-Browser">
            <a:extLst xmlns:a="http://schemas.openxmlformats.org/drawingml/2006/main">
              <a:ext uri="{FF2B5EF4-FFF2-40B4-BE49-F238E27FC236}">
                <a16:creationId xmlns:a16="http://schemas.microsoft.com/office/drawing/2014/main" id="{E2225971-41D6-4F0A-AA31-C280A2A9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4876800" cy="1074420"/>
          </a:xfrm>
          <a:prstGeom xmlns:a="http://schemas.openxmlformats.org/drawingml/2006/main" prst="roundRect">
            <a:avLst>
              <a:gd name="adj" fmla="val 709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3E4452-B461-4E28-806B-885E77F4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4790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202A"/>
                </a:solidFill>
              </a:defRPr>
            </a:pPr>
            <a:r>
              <a:rPr sz="2100" b="1">
                <a:solidFill>
                  <a:srgbClr val="16202A"/>
                </a:solidFill>
              </a:rPr>
              <a:t>Browser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07FB4-0ED6-4813-9632-B8599402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0"/>
            <a:ext cx="4343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Membuka localhost:8080 atau localhost:8443.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2048F-E4A0-4A6D-AE2C-206FC947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571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F766E"/>
                </a:solidFill>
              </a:defRPr>
            </a:pPr>
            <a:r>
              <a:rPr sz="33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7" name="method-Apache + PHP">
            <a:extLst xmlns:a="http://schemas.openxmlformats.org/drawingml/2006/main">
              <a:ext uri="{FF2B5EF4-FFF2-40B4-BE49-F238E27FC236}">
                <a16:creationId xmlns:a16="http://schemas.microsoft.com/office/drawing/2014/main" id="{F75EE0E7-1117-4DD9-B361-BE3677B3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3835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5188C-F3FA-4028-884B-5AB44A5D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4790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5E59"/>
                </a:solidFill>
              </a:defRPr>
            </a:pPr>
            <a:r>
              <a:rPr sz="2100" b="1">
                <a:solidFill>
                  <a:srgbClr val="115E59"/>
                </a:solidFill>
              </a:rPr>
              <a:t>Apache + PHP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51468-FFB3-4188-B290-9A6BA93C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6700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Tidak redirect HTTP, login raw SQL, output raw, dan tanpa batas komentar.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3CD35E-85AA-425A-8E58-F2F2AA10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3850" y="2038350"/>
            <a:ext cx="571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F766E"/>
                </a:solidFill>
              </a:defRPr>
            </a:pPr>
            <a:r>
              <a:rPr sz="33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11" name="method-MySQL">
            <a:extLst xmlns:a="http://schemas.openxmlformats.org/drawingml/2006/main">
              <a:ext uri="{FF2B5EF4-FFF2-40B4-BE49-F238E27FC236}">
                <a16:creationId xmlns:a16="http://schemas.microsoft.com/office/drawing/2014/main" id="{76830C4A-D9D8-4A51-9BB9-8C88F633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203835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E5007C-B177-452C-8CFE-15988769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24790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202A"/>
                </a:solidFill>
              </a:defRPr>
            </a:pPr>
            <a:r>
              <a:rPr sz="2100" b="1">
                <a:solidFill>
                  <a:srgbClr val="16202A"/>
                </a:solidFill>
              </a:rPr>
              <a:t>MySQL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73CCCD-669A-44C5-BC06-9697654E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66700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Menyimpan tabel users dan comments di network Docker kelas C.</a:t>
            </a:r>
          </a:p>
        </p:txBody>
      </p:sp>
      <p:sp>
        <p:nvSpPr>
          <p:cNvPr id="14" name="network-note">
            <a:extLst xmlns:a="http://schemas.openxmlformats.org/drawingml/2006/main">
              <a:ext uri="{FF2B5EF4-FFF2-40B4-BE49-F238E27FC236}">
                <a16:creationId xmlns:a16="http://schemas.microsoft.com/office/drawing/2014/main" id="{F0C4340D-796F-4F01-AA32-72928FD0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645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6B78"/>
                </a:solidFill>
              </a:defRPr>
            </a:pPr>
            <a:r>
              <a:rPr sz="1800">
                <a:solidFill>
                  <a:srgbClr val="5E6B78"/>
                </a:solidFill>
              </a:rPr>
              <a:t>Docker network: 192.168.219.0/24 | web: 192.168.219.219 | db: 192.168.219.220</a:t>
            </a:r>
          </a:p>
        </p:txBody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3D79A6A0-5230-4F60-B66B-1F042EEF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Non-Secure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60827932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FE35B3-AD29-49E0-AB07-FF3226D2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Bukti non-secure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D37E192-0C8E-4617-9864-BC071489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44196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Setiap demo menunjukkan kontrol yang belum aktif.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E66D854A-D683-452F-AF07-462720F5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905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Password admin tampil plaintext sebagai Admin@240! di admin panel.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226D02EA-8081-4705-AB56-BB00F9F3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6629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Payload SQL injection di username berhasil melewati login.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7F00034D-10B1-40B2-9F15-E7E31301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5410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Payload XSS pada komentar dieksekusi browser.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DCFFC928-F081-4A35-BBEA-23EBD085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567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Komentar lebih dari 500 karakter tetap tersimpan.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3ADD15A-1BF1-4684-82A0-4F4538DB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Non-Secure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4566245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C14E3C-D852-4487-B90D-F1CA6B0E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Demo uji rentan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6B7193C-2667-41F3-9B32-112022F1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46101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Urutan demo difokuskan pada kontrol yang dimatikan.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FCCD9D2E-B2D4-4390-AF22-F4AEAE16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60769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Buka HTTP dan tunjukkan tidak ada redirect otomatis.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A3C31333-806D-4027-8A7A-E5D67D05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49720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Login dengan payload username ' OR '1'='1.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7158D247-FD00-487C-8AC9-C7E49291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590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Buka /admin.php dan tunjukkan password plaintext.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A78D870E-0A77-4EC1-A165-0B00C837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6477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Kirim komentar XSS dan komentar lebih dari 500 karakter.</a:t>
            </a:r>
          </a:p>
        </p:txBody>
      </p:sp>
      <p:sp>
        <p:nvSpPr>
          <p:cNvPr id="7" name="bullet-5">
            <a:extLst xmlns:a="http://schemas.openxmlformats.org/drawingml/2006/main">
              <a:ext uri="{FF2B5EF4-FFF2-40B4-BE49-F238E27FC236}">
                <a16:creationId xmlns:a16="http://schemas.microsoft.com/office/drawing/2014/main" id="{9BEC412D-5565-483E-936C-EF7532DE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5581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5. Bandingkan hasilnya dengan branch secure-login.</a:t>
            </a:r>
          </a:p>
        </p:txBody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E427087F-0386-44BC-8A7E-B5A5C4DB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006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Non-Secure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99171598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47FC3A8-F79B-4261-9101-2D1AED90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Kesimpulan dan saran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82FF9B3-A747-44AD-ABB6-7779BB94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51816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Branch ini menunjukkan kondisi sebelum aplikasi diamankan.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8D9C32F5-C16B-4533-93F9-CCECA65D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08966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Risiko utama terlihat: plaintext password, SQL injection, XSS, CSRF, input berlebih, dan role bypass.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F30C8B34-C973-475F-94C5-86C83E71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8610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Branch secure-login menjadi pembanding untuk versi yang sudah diamankan.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1E49B78A-B29A-4049-B6BA-E16CF7D1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10953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Perbaikan utama: hash+salt, prepared statement, escaping, CSRF token, input limit, dan role check.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7AAA1320-2E95-478D-B2D8-B651DC13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Non-Secure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4226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2026-05-12T00:20:50.0260000Z</dcterms:created>
  <dcterms:modified xsi:type="dcterms:W3CDTF">2026-05-12T00:20:50.0260000Z</dcterms:modified>
</coreProperties>
</file>